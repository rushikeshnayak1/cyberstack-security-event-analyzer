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4"/>
  </p:notesMasterIdLst>
  <p:sldIdLst>
    <p:sldId id="256" r:id="rId3"/>
  </p:sldIdLst>
  <p:sldSz cx="43891200" cy="32918400"/>
  <p:notesSz cx="6858000" cy="9144000"/>
  <p:embeddedFontLst>
    <p:embeddedFont>
      <p:font typeface="Arial Black" panose="020B0A04020102020204" pitchFamily="34" charset="0"/>
      <p:bold r:id="rId5"/>
    </p:embeddedFont>
    <p:embeddedFont>
      <p:font typeface="Garamond" panose="02020404030301010803" pitchFamily="18" charset="0"/>
      <p:regular r:id="rId6"/>
      <p:bold r:id="rId7"/>
      <p:italic r:id="rId8"/>
    </p:embeddedFont>
    <p:embeddedFont>
      <p:font typeface="Helvetica Neue" panose="020B0604020202020204"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h6s/6j4kNOWpoJDMPdlVG1TC5k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9" d="100"/>
          <a:sy n="19" d="100"/>
        </p:scale>
        <p:origin x="588" y="16"/>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font" Target="fonts/font3.fntdata"/><Relationship Id="rId12" Type="http://schemas.openxmlformats.org/officeDocument/2006/relationships/font" Target="fonts/font8.fntdata"/><Relationship Id="rId17" Type="http://customschemas.google.com/relationships/presentationmetadata" Target="metadata"/><Relationship Id="rId2" Type="http://schemas.openxmlformats.org/officeDocument/2006/relationships/slideMaster" Target="slideMasters/slideMaster2.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0" Type="http://schemas.openxmlformats.org/officeDocument/2006/relationships/font" Target="fonts/font6.fntdata"/><Relationship Id="rId19"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70" name="Google Shape;7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8000"/>
              </a:lnSpc>
              <a:spcBef>
                <a:spcPts val="0"/>
              </a:spcBef>
              <a:spcAft>
                <a:spcPts val="0"/>
              </a:spcAft>
              <a:buSzPts val="1400"/>
              <a:buNone/>
            </a:pPr>
            <a:endParaRPr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p:nvPr/>
        </p:nvSpPr>
        <p:spPr>
          <a:xfrm>
            <a:off x="0" y="0"/>
            <a:ext cx="43891200" cy="5255100"/>
          </a:xfrm>
          <a:prstGeom prst="rect">
            <a:avLst/>
          </a:prstGeom>
          <a:solidFill>
            <a:srgbClr val="A64D7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0" y="5255100"/>
            <a:ext cx="43891200" cy="27663300"/>
          </a:xfrm>
          <a:prstGeom prst="rect">
            <a:avLst/>
          </a:prstGeom>
          <a:solidFill>
            <a:srgbClr val="D5A6B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690150"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1148816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22285938"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3306381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292475" y="10226675"/>
            <a:ext cx="37306250" cy="70548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lnSpc>
                <a:spcPct val="100000"/>
              </a:lnSpc>
              <a:spcBef>
                <a:spcPts val="600"/>
              </a:spcBef>
              <a:spcAft>
                <a:spcPts val="0"/>
              </a:spcAft>
              <a:buClr>
                <a:schemeClr val="dk1"/>
              </a:buClr>
              <a:buSzPts val="2900"/>
              <a:buFont typeface="Arial"/>
              <a:buNone/>
              <a:defRPr/>
            </a:lvl1pPr>
            <a:lvl2pPr lvl="1" algn="ctr">
              <a:lnSpc>
                <a:spcPct val="100000"/>
              </a:lnSpc>
              <a:spcBef>
                <a:spcPts val="600"/>
              </a:spcBef>
              <a:spcAft>
                <a:spcPts val="0"/>
              </a:spcAft>
              <a:buClr>
                <a:schemeClr val="dk1"/>
              </a:buClr>
              <a:buSzPts val="2900"/>
              <a:buFont typeface="Arial"/>
              <a:buNone/>
              <a:defRPr/>
            </a:lvl2pPr>
            <a:lvl3pPr lvl="2" algn="ctr">
              <a:lnSpc>
                <a:spcPct val="100000"/>
              </a:lnSpc>
              <a:spcBef>
                <a:spcPts val="600"/>
              </a:spcBef>
              <a:spcAft>
                <a:spcPts val="0"/>
              </a:spcAft>
              <a:buClr>
                <a:schemeClr val="dk1"/>
              </a:buClr>
              <a:buSzPts val="2900"/>
              <a:buFont typeface="Arial"/>
              <a:buNone/>
              <a:defRPr/>
            </a:lvl3pPr>
            <a:lvl4pPr lvl="3" algn="ctr">
              <a:lnSpc>
                <a:spcPct val="100000"/>
              </a:lnSpc>
              <a:spcBef>
                <a:spcPts val="600"/>
              </a:spcBef>
              <a:spcAft>
                <a:spcPts val="0"/>
              </a:spcAft>
              <a:buClr>
                <a:schemeClr val="dk1"/>
              </a:buClr>
              <a:buSzPts val="2900"/>
              <a:buFont typeface="Arial"/>
              <a:buNone/>
              <a:defRPr/>
            </a:lvl4pPr>
            <a:lvl5pPr lvl="4" algn="ctr">
              <a:lnSpc>
                <a:spcPct val="100000"/>
              </a:lnSpc>
              <a:spcBef>
                <a:spcPts val="600"/>
              </a:spcBef>
              <a:spcAft>
                <a:spcPts val="0"/>
              </a:spcAft>
              <a:buClr>
                <a:schemeClr val="dk1"/>
              </a:buClr>
              <a:buSzPts val="2900"/>
              <a:buFont typeface="Arial"/>
              <a:buNone/>
              <a:defRPr/>
            </a:lvl5pPr>
            <a:lvl6pPr lvl="5" algn="ctr">
              <a:lnSpc>
                <a:spcPct val="100000"/>
              </a:lnSpc>
              <a:spcBef>
                <a:spcPts val="600"/>
              </a:spcBef>
              <a:spcAft>
                <a:spcPts val="0"/>
              </a:spcAft>
              <a:buClr>
                <a:schemeClr val="dk1"/>
              </a:buClr>
              <a:buSzPts val="2900"/>
              <a:buFont typeface="Arial"/>
              <a:buNone/>
              <a:defRPr/>
            </a:lvl6pPr>
            <a:lvl7pPr lvl="6" algn="ctr">
              <a:lnSpc>
                <a:spcPct val="100000"/>
              </a:lnSpc>
              <a:spcBef>
                <a:spcPts val="600"/>
              </a:spcBef>
              <a:spcAft>
                <a:spcPts val="0"/>
              </a:spcAft>
              <a:buClr>
                <a:schemeClr val="dk1"/>
              </a:buClr>
              <a:buSzPts val="2900"/>
              <a:buFont typeface="Arial"/>
              <a:buNone/>
              <a:defRPr/>
            </a:lvl7pPr>
            <a:lvl8pPr lvl="7" algn="ctr">
              <a:lnSpc>
                <a:spcPct val="100000"/>
              </a:lnSpc>
              <a:spcBef>
                <a:spcPts val="600"/>
              </a:spcBef>
              <a:spcAft>
                <a:spcPts val="0"/>
              </a:spcAft>
              <a:buClr>
                <a:schemeClr val="dk1"/>
              </a:buClr>
              <a:buSzPts val="2900"/>
              <a:buFont typeface="Arial"/>
              <a:buNone/>
              <a:defRPr/>
            </a:lvl8pPr>
            <a:lvl9pPr lvl="8" algn="ctr">
              <a:lnSpc>
                <a:spcPct val="100000"/>
              </a:lnSpc>
              <a:spcBef>
                <a:spcPts val="600"/>
              </a:spcBef>
              <a:spcAft>
                <a:spcPts val="0"/>
              </a:spcAft>
              <a:buClr>
                <a:schemeClr val="dk1"/>
              </a:buClr>
              <a:buSzPts val="2900"/>
              <a:buFont typeface="Arial"/>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467100" y="21153438"/>
            <a:ext cx="37307838" cy="6537325"/>
          </a:xfrm>
          <a:prstGeom prst="rect">
            <a:avLst/>
          </a:prstGeom>
          <a:noFill/>
          <a:ln>
            <a:noFill/>
          </a:ln>
        </p:spPr>
        <p:txBody>
          <a:bodyPr spcFirstLastPara="1" wrap="square" lIns="45600" tIns="45600" rIns="45600" bIns="456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000"/>
              <a:buFont typeface="Arial"/>
              <a:buNone/>
              <a:defRPr sz="2000"/>
            </a:lvl1pPr>
            <a:lvl2pPr marL="914400" lvl="1" indent="-228600" algn="l">
              <a:lnSpc>
                <a:spcPct val="100000"/>
              </a:lnSpc>
              <a:spcBef>
                <a:spcPts val="600"/>
              </a:spcBef>
              <a:spcAft>
                <a:spcPts val="0"/>
              </a:spcAft>
              <a:buClr>
                <a:schemeClr val="dk1"/>
              </a:buClr>
              <a:buSzPts val="1800"/>
              <a:buFont typeface="Arial"/>
              <a:buNone/>
              <a:defRPr sz="1800"/>
            </a:lvl2pPr>
            <a:lvl3pPr marL="1371600" lvl="2" indent="-228600" algn="l">
              <a:lnSpc>
                <a:spcPct val="100000"/>
              </a:lnSpc>
              <a:spcBef>
                <a:spcPts val="600"/>
              </a:spcBef>
              <a:spcAft>
                <a:spcPts val="0"/>
              </a:spcAft>
              <a:buClr>
                <a:schemeClr val="dk1"/>
              </a:buClr>
              <a:buSzPts val="1600"/>
              <a:buFont typeface="Arial"/>
              <a:buNone/>
              <a:defRPr sz="1600"/>
            </a:lvl3pPr>
            <a:lvl4pPr marL="1828800" lvl="3" indent="-228600" algn="l">
              <a:lnSpc>
                <a:spcPct val="100000"/>
              </a:lnSpc>
              <a:spcBef>
                <a:spcPts val="600"/>
              </a:spcBef>
              <a:spcAft>
                <a:spcPts val="0"/>
              </a:spcAft>
              <a:buClr>
                <a:schemeClr val="dk1"/>
              </a:buClr>
              <a:buSzPts val="1400"/>
              <a:buFont typeface="Arial"/>
              <a:buNone/>
              <a:defRPr sz="1400"/>
            </a:lvl4pPr>
            <a:lvl5pPr marL="2286000" lvl="4" indent="-228600" algn="l">
              <a:lnSpc>
                <a:spcPct val="100000"/>
              </a:lnSpc>
              <a:spcBef>
                <a:spcPts val="600"/>
              </a:spcBef>
              <a:spcAft>
                <a:spcPts val="0"/>
              </a:spcAft>
              <a:buClr>
                <a:schemeClr val="dk1"/>
              </a:buClr>
              <a:buSzPts val="1400"/>
              <a:buFont typeface="Arial"/>
              <a:buNone/>
              <a:defRPr sz="1400"/>
            </a:lvl5pPr>
            <a:lvl6pPr marL="2743200" lvl="5" indent="-228600" algn="l">
              <a:lnSpc>
                <a:spcPct val="100000"/>
              </a:lnSpc>
              <a:spcBef>
                <a:spcPts val="600"/>
              </a:spcBef>
              <a:spcAft>
                <a:spcPts val="0"/>
              </a:spcAft>
              <a:buClr>
                <a:schemeClr val="dk1"/>
              </a:buClr>
              <a:buSzPts val="1400"/>
              <a:buFont typeface="Arial"/>
              <a:buNone/>
              <a:defRPr sz="1400"/>
            </a:lvl6pPr>
            <a:lvl7pPr marL="3200400" lvl="6" indent="-228600" algn="l">
              <a:lnSpc>
                <a:spcPct val="100000"/>
              </a:lnSpc>
              <a:spcBef>
                <a:spcPts val="600"/>
              </a:spcBef>
              <a:spcAft>
                <a:spcPts val="0"/>
              </a:spcAft>
              <a:buClr>
                <a:schemeClr val="dk1"/>
              </a:buClr>
              <a:buSzPts val="1400"/>
              <a:buFont typeface="Arial"/>
              <a:buNone/>
              <a:defRPr sz="1400"/>
            </a:lvl7pPr>
            <a:lvl8pPr marL="3657600" lvl="7" indent="-228600" algn="l">
              <a:lnSpc>
                <a:spcPct val="100000"/>
              </a:lnSpc>
              <a:spcBef>
                <a:spcPts val="600"/>
              </a:spcBef>
              <a:spcAft>
                <a:spcPts val="0"/>
              </a:spcAft>
              <a:buClr>
                <a:schemeClr val="dk1"/>
              </a:buClr>
              <a:buSzPts val="1400"/>
              <a:buFont typeface="Arial"/>
              <a:buNone/>
              <a:defRPr sz="1400"/>
            </a:lvl8pPr>
            <a:lvl9pPr marL="4114800" lvl="8" indent="-228600" algn="l">
              <a:lnSpc>
                <a:spcPct val="100000"/>
              </a:lnSpc>
              <a:spcBef>
                <a:spcPts val="60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693738" y="5638800"/>
            <a:ext cx="21018500"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
        <p:nvSpPr>
          <p:cNvPr id="35" name="Google Shape;35;p7"/>
          <p:cNvSpPr txBox="1">
            <a:spLocks noGrp="1"/>
          </p:cNvSpPr>
          <p:nvPr>
            <p:ph type="body" idx="2"/>
          </p:nvPr>
        </p:nvSpPr>
        <p:spPr>
          <a:xfrm>
            <a:off x="21864638" y="5638800"/>
            <a:ext cx="21020087"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2193925" y="1317625"/>
            <a:ext cx="39503350" cy="548640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39" name="Google Shape;39;p8"/>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
        <p:nvSpPr>
          <p:cNvPr id="40" name="Google Shape;40;p8"/>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41" name="Google Shape;41;p8"/>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193925" y="1311275"/>
            <a:ext cx="14439900" cy="5576888"/>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10"/>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lnSpc>
                <a:spcPct val="100000"/>
              </a:lnSpc>
              <a:spcBef>
                <a:spcPts val="600"/>
              </a:spcBef>
              <a:spcAft>
                <a:spcPts val="0"/>
              </a:spcAft>
              <a:buClr>
                <a:schemeClr val="dk1"/>
              </a:buClr>
              <a:buSzPts val="3200"/>
              <a:buFont typeface="Arial"/>
              <a:buChar char="»"/>
              <a:defRPr sz="3200"/>
            </a:lvl1pPr>
            <a:lvl2pPr marL="914400" lvl="1" indent="-406400" algn="l">
              <a:lnSpc>
                <a:spcPct val="100000"/>
              </a:lnSpc>
              <a:spcBef>
                <a:spcPts val="600"/>
              </a:spcBef>
              <a:spcAft>
                <a:spcPts val="0"/>
              </a:spcAft>
              <a:buClr>
                <a:schemeClr val="dk1"/>
              </a:buClr>
              <a:buSzPts val="2800"/>
              <a:buFont typeface="Arial"/>
              <a:buChar char="–"/>
              <a:defRPr sz="2800"/>
            </a:lvl2pPr>
            <a:lvl3pPr marL="1371600" lvl="2" indent="-381000" algn="l">
              <a:lnSpc>
                <a:spcPct val="100000"/>
              </a:lnSpc>
              <a:spcBef>
                <a:spcPts val="600"/>
              </a:spcBef>
              <a:spcAft>
                <a:spcPts val="0"/>
              </a:spcAft>
              <a:buClr>
                <a:schemeClr val="dk1"/>
              </a:buClr>
              <a:buSzPts val="2400"/>
              <a:buFont typeface="Arial"/>
              <a:buChar char="•"/>
              <a:defRPr sz="2400"/>
            </a:lvl3pPr>
            <a:lvl4pPr marL="1828800" lvl="3" indent="-355600" algn="l">
              <a:lnSpc>
                <a:spcPct val="100000"/>
              </a:lnSpc>
              <a:spcBef>
                <a:spcPts val="600"/>
              </a:spcBef>
              <a:spcAft>
                <a:spcPts val="0"/>
              </a:spcAft>
              <a:buClr>
                <a:schemeClr val="dk1"/>
              </a:buClr>
              <a:buSzPts val="2000"/>
              <a:buFont typeface="Arial"/>
              <a:buChar char="–"/>
              <a:defRPr sz="2000"/>
            </a:lvl4pPr>
            <a:lvl5pPr marL="2286000" lvl="4" indent="-355600" algn="l">
              <a:lnSpc>
                <a:spcPct val="100000"/>
              </a:lnSpc>
              <a:spcBef>
                <a:spcPts val="600"/>
              </a:spcBef>
              <a:spcAft>
                <a:spcPts val="0"/>
              </a:spcAft>
              <a:buClr>
                <a:schemeClr val="dk1"/>
              </a:buClr>
              <a:buSzPts val="2000"/>
              <a:buFont typeface="Arial"/>
              <a:buChar char="»"/>
              <a:defRPr sz="2000"/>
            </a:lvl5pPr>
            <a:lvl6pPr marL="2743200" lvl="5" indent="-355600" algn="l">
              <a:lnSpc>
                <a:spcPct val="100000"/>
              </a:lnSpc>
              <a:spcBef>
                <a:spcPts val="600"/>
              </a:spcBef>
              <a:spcAft>
                <a:spcPts val="0"/>
              </a:spcAft>
              <a:buClr>
                <a:schemeClr val="dk1"/>
              </a:buClr>
              <a:buSzPts val="2000"/>
              <a:buFont typeface="Arial"/>
              <a:buChar char="»"/>
              <a:defRPr sz="2000"/>
            </a:lvl6pPr>
            <a:lvl7pPr marL="3200400" lvl="6" indent="-355600" algn="l">
              <a:lnSpc>
                <a:spcPct val="100000"/>
              </a:lnSpc>
              <a:spcBef>
                <a:spcPts val="600"/>
              </a:spcBef>
              <a:spcAft>
                <a:spcPts val="0"/>
              </a:spcAft>
              <a:buClr>
                <a:schemeClr val="dk1"/>
              </a:buClr>
              <a:buSzPts val="2000"/>
              <a:buFont typeface="Arial"/>
              <a:buChar char="»"/>
              <a:defRPr sz="2000"/>
            </a:lvl7pPr>
            <a:lvl8pPr marL="3657600" lvl="7" indent="-355600" algn="l">
              <a:lnSpc>
                <a:spcPct val="100000"/>
              </a:lnSpc>
              <a:spcBef>
                <a:spcPts val="600"/>
              </a:spcBef>
              <a:spcAft>
                <a:spcPts val="0"/>
              </a:spcAft>
              <a:buClr>
                <a:schemeClr val="dk1"/>
              </a:buClr>
              <a:buSzPts val="2000"/>
              <a:buFont typeface="Arial"/>
              <a:buChar char="»"/>
              <a:defRPr sz="2000"/>
            </a:lvl8pPr>
            <a:lvl9pPr marL="4114800" lvl="8" indent="-355600" algn="l">
              <a:lnSpc>
                <a:spcPct val="100000"/>
              </a:lnSpc>
              <a:spcBef>
                <a:spcPts val="600"/>
              </a:spcBef>
              <a:spcAft>
                <a:spcPts val="0"/>
              </a:spcAft>
              <a:buClr>
                <a:schemeClr val="dk1"/>
              </a:buClr>
              <a:buSzPts val="2000"/>
              <a:buFont typeface="Arial"/>
              <a:buChar char="»"/>
              <a:defRPr sz="2000"/>
            </a:lvl9pPr>
          </a:lstStyle>
          <a:p>
            <a:endParaRPr/>
          </a:p>
        </p:txBody>
      </p:sp>
      <p:sp>
        <p:nvSpPr>
          <p:cNvPr id="47" name="Google Shape;47;p10"/>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02663" y="23042563"/>
            <a:ext cx="26335037" cy="2720975"/>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11"/>
          <p:cNvSpPr>
            <a:spLocks noGrp="1"/>
          </p:cNvSpPr>
          <p:nvPr>
            <p:ph type="pic" idx="2"/>
          </p:nvPr>
        </p:nvSpPr>
        <p:spPr>
          <a:xfrm>
            <a:off x="8602663" y="2941638"/>
            <a:ext cx="26335037" cy="19750087"/>
          </a:xfrm>
          <a:prstGeom prst="rect">
            <a:avLst/>
          </a:prstGeom>
          <a:noFill/>
          <a:ln>
            <a:noFill/>
          </a:ln>
        </p:spPr>
        <p:txBody>
          <a:bodyPr/>
          <a:lstStyle/>
          <a:p>
            <a:endParaRPr lang="en-US"/>
          </a:p>
        </p:txBody>
      </p:sp>
      <p:sp>
        <p:nvSpPr>
          <p:cNvPr id="51" name="Google Shape;51;p11"/>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2"/>
          <p:cNvSpPr txBox="1">
            <a:spLocks noGrp="1"/>
          </p:cNvSpPr>
          <p:nvPr>
            <p:ph type="body" idx="1"/>
          </p:nvPr>
        </p:nvSpPr>
        <p:spPr>
          <a:xfrm rot="5400000">
            <a:off x="8149432" y="-1816893"/>
            <a:ext cx="27279600" cy="4219098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rot="5400000">
            <a:off x="21151850" y="11185525"/>
            <a:ext cx="32918400" cy="105473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rot="5400000">
            <a:off x="-19843" y="713582"/>
            <a:ext cx="32918400" cy="3149123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TITLE_AND_BODY">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7" name="Google Shape;67;p1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4800600"/>
          </a:xfrm>
          <a:prstGeom prst="rect">
            <a:avLst/>
          </a:prstGeom>
          <a:solidFill>
            <a:srgbClr val="003466"/>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2"/>
          <p:cNvSpPr/>
          <p:nvPr/>
        </p:nvSpPr>
        <p:spPr>
          <a:xfrm>
            <a:off x="693738" y="5638800"/>
            <a:ext cx="9974262"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2"/>
          <p:cNvSpPr/>
          <p:nvPr/>
        </p:nvSpPr>
        <p:spPr>
          <a:xfrm>
            <a:off x="130628" y="4800600"/>
            <a:ext cx="43662600" cy="242887"/>
          </a:xfrm>
          <a:prstGeom prst="rect">
            <a:avLst/>
          </a:prstGeom>
          <a:solidFill>
            <a:srgbClr val="660000"/>
          </a:solidFill>
          <a:ln w="152400" cap="flat" cmpd="sng">
            <a:solidFill>
              <a:srgbClr val="FF99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2"/>
          <p:cNvSpPr/>
          <p:nvPr/>
        </p:nvSpPr>
        <p:spPr>
          <a:xfrm>
            <a:off x="609600" y="32445325"/>
            <a:ext cx="2514600" cy="354013"/>
          </a:xfrm>
          <a:prstGeom prst="rect">
            <a:avLst/>
          </a:prstGeom>
          <a:noFill/>
          <a:ln>
            <a:noFill/>
          </a:ln>
        </p:spPr>
        <p:txBody>
          <a:bodyPr spcFirstLastPara="1" wrap="square" lIns="45600" tIns="45600" rIns="45600" bIns="45600" anchor="t" anchorCtr="0">
            <a:no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808080"/>
                </a:solidFill>
                <a:latin typeface="Arial"/>
                <a:ea typeface="Arial"/>
                <a:cs typeface="Arial"/>
                <a:sym typeface="Arial"/>
              </a:rPr>
              <a:t>TEMPLATE DESIGN © 2008</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600"/>
              </a:spcBef>
              <a:spcAft>
                <a:spcPts val="0"/>
              </a:spcAft>
              <a:buClr>
                <a:srgbClr val="000000"/>
              </a:buClr>
              <a:buSzPts val="1000"/>
              <a:buFont typeface="Arial"/>
              <a:buNone/>
            </a:pPr>
            <a:r>
              <a:rPr lang="en-US" sz="1000" b="1" i="0" u="none" strike="noStrike" cap="none">
                <a:solidFill>
                  <a:srgbClr val="808080"/>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0" name="Google Shape;10;p2"/>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2"/>
          <p:cNvSpPr/>
          <p:nvPr/>
        </p:nvSpPr>
        <p:spPr>
          <a:xfrm>
            <a:off x="114903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2"/>
          <p:cNvSpPr/>
          <p:nvPr/>
        </p:nvSpPr>
        <p:spPr>
          <a:xfrm>
            <a:off x="222726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2"/>
          <p:cNvSpPr/>
          <p:nvPr/>
        </p:nvSpPr>
        <p:spPr>
          <a:xfrm>
            <a:off x="33078738"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4;p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9pPr>
          </a:lstStyle>
          <a:p>
            <a:endParaRPr/>
          </a:p>
        </p:txBody>
      </p:sp>
      <p:sp>
        <p:nvSpPr>
          <p:cNvPr id="15" name="Google Shape;15;p2"/>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6pPr>
            <a:lvl7pPr marL="3200400" marR="0" lvl="6"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7pPr>
            <a:lvl8pPr marL="3657600" marR="0" lvl="7"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8pPr>
            <a:lvl9pPr marL="4114800" marR="0" lvl="8"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8"/>
        <p:cNvGrpSpPr/>
        <p:nvPr/>
      </p:nvGrpSpPr>
      <p:grpSpPr>
        <a:xfrm>
          <a:off x="0" y="0"/>
          <a:ext cx="0" cy="0"/>
          <a:chOff x="0" y="0"/>
          <a:chExt cx="0" cy="0"/>
        </a:xfrm>
      </p:grpSpPr>
      <p:sp>
        <p:nvSpPr>
          <p:cNvPr id="59" name="Google Shape;59;p14"/>
          <p:cNvSpPr/>
          <p:nvPr/>
        </p:nvSpPr>
        <p:spPr>
          <a:xfrm>
            <a:off x="0" y="0"/>
            <a:ext cx="43891200" cy="4800600"/>
          </a:xfrm>
          <a:prstGeom prst="rect">
            <a:avLst/>
          </a:prstGeom>
          <a:solidFill>
            <a:srgbClr val="D7D7D7"/>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 name="Google Shape;60;p14"/>
          <p:cNvSpPr/>
          <p:nvPr/>
        </p:nvSpPr>
        <p:spPr>
          <a:xfrm>
            <a:off x="693738" y="5638800"/>
            <a:ext cx="42367200" cy="26563638"/>
          </a:xfrm>
          <a:prstGeom prst="rect">
            <a:avLst/>
          </a:prstGeom>
          <a:solidFill>
            <a:srgbClr val="D7D7D7"/>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 name="Google Shape;61;p14"/>
          <p:cNvSpPr/>
          <p:nvPr/>
        </p:nvSpPr>
        <p:spPr>
          <a:xfrm>
            <a:off x="0" y="4800600"/>
            <a:ext cx="43891200" cy="130175"/>
          </a:xfrm>
          <a:prstGeom prst="rect">
            <a:avLst/>
          </a:prstGeom>
          <a:solidFill>
            <a:srgbClr val="66000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2" name="Google Shape;62;p14"/>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Google Shape;63;p14"/>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9pPr>
          </a:lstStyle>
          <a:p>
            <a:endParaRPr/>
          </a:p>
        </p:txBody>
      </p:sp>
      <p:sp>
        <p:nvSpPr>
          <p:cNvPr id="64" name="Google Shape;64;p14"/>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6pPr>
            <a:lvl7pPr marL="3200400" marR="0" lvl="6"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7pPr>
            <a:lvl8pPr marL="3657600" marR="0" lvl="7"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8pPr>
            <a:lvl9pPr marL="4114800" marR="0" lvl="8"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jp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jpeg"/><Relationship Id="rId4" Type="http://schemas.openxmlformats.org/officeDocument/2006/relationships/hyperlink" Target="mailto:Victor.Govindaswamy@cuchicago.edu"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Shape 71"/>
        <p:cNvGrpSpPr/>
        <p:nvPr/>
      </p:nvGrpSpPr>
      <p:grpSpPr>
        <a:xfrm>
          <a:off x="0" y="0"/>
          <a:ext cx="0" cy="0"/>
          <a:chOff x="0" y="0"/>
          <a:chExt cx="0" cy="0"/>
        </a:xfrm>
      </p:grpSpPr>
      <p:sp>
        <p:nvSpPr>
          <p:cNvPr id="72" name="Google Shape;72;p1"/>
          <p:cNvSpPr/>
          <p:nvPr/>
        </p:nvSpPr>
        <p:spPr>
          <a:xfrm>
            <a:off x="22275800" y="14337218"/>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2: View Latest Security Event-Peek Operation</a:t>
            </a:r>
            <a:endParaRPr sz="3600" i="0" u="none" strike="noStrike" cap="none" dirty="0">
              <a:solidFill>
                <a:srgbClr val="000000"/>
              </a:solidFill>
              <a:latin typeface="Garamond"/>
              <a:ea typeface="Garamond"/>
              <a:cs typeface="Garamond"/>
              <a:sym typeface="Garamond"/>
            </a:endParaRPr>
          </a:p>
        </p:txBody>
      </p:sp>
      <p:sp>
        <p:nvSpPr>
          <p:cNvPr id="73" name="Google Shape;73;p1"/>
          <p:cNvSpPr/>
          <p:nvPr/>
        </p:nvSpPr>
        <p:spPr>
          <a:xfrm>
            <a:off x="22281800" y="563532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Main Menu</a:t>
            </a:r>
            <a:endParaRPr sz="3600" i="0" u="none" strike="noStrike" cap="none" dirty="0">
              <a:solidFill>
                <a:srgbClr val="000000"/>
              </a:solidFill>
              <a:latin typeface="Garamond"/>
              <a:ea typeface="Garamond"/>
              <a:cs typeface="Garamond"/>
              <a:sym typeface="Garamond"/>
            </a:endParaRPr>
          </a:p>
        </p:txBody>
      </p:sp>
      <p:pic>
        <p:nvPicPr>
          <p:cNvPr id="74" name="Google Shape;74;p1"/>
          <p:cNvPicPr preferRelativeResize="0"/>
          <p:nvPr/>
        </p:nvPicPr>
        <p:blipFill rotWithShape="1">
          <a:blip r:embed="rId3">
            <a:alphaModFix/>
          </a:blip>
          <a:srcRect/>
          <a:stretch/>
        </p:blipFill>
        <p:spPr>
          <a:xfrm>
            <a:off x="37315153" y="621750"/>
            <a:ext cx="6083696" cy="3967800"/>
          </a:xfrm>
          <a:prstGeom prst="rect">
            <a:avLst/>
          </a:prstGeom>
          <a:noFill/>
          <a:ln>
            <a:noFill/>
          </a:ln>
        </p:spPr>
      </p:pic>
      <p:sp>
        <p:nvSpPr>
          <p:cNvPr id="75" name="Google Shape;75;p1"/>
          <p:cNvSpPr/>
          <p:nvPr/>
        </p:nvSpPr>
        <p:spPr>
          <a:xfrm>
            <a:off x="33055050" y="5635325"/>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6: Display </a:t>
            </a:r>
            <a:r>
              <a:rPr lang="en-US" sz="3600" b="1" dirty="0">
                <a:solidFill>
                  <a:srgbClr val="F8F8F8"/>
                </a:solidFill>
                <a:latin typeface="Garamond"/>
                <a:ea typeface="Garamond"/>
                <a:cs typeface="Garamond"/>
                <a:sym typeface="Garamond"/>
              </a:rPr>
              <a:t>Total Security Events-Event Counter</a:t>
            </a:r>
            <a:endParaRPr sz="3600" i="0" u="none" strike="noStrike" cap="none" dirty="0">
              <a:solidFill>
                <a:srgbClr val="000000"/>
              </a:solidFill>
              <a:latin typeface="Garamond"/>
              <a:ea typeface="Garamond"/>
              <a:cs typeface="Garamond"/>
              <a:sym typeface="Garamond"/>
            </a:endParaRPr>
          </a:p>
        </p:txBody>
      </p:sp>
      <p:sp>
        <p:nvSpPr>
          <p:cNvPr id="76" name="Google Shape;76;p1"/>
          <p:cNvSpPr txBox="1"/>
          <p:nvPr/>
        </p:nvSpPr>
        <p:spPr>
          <a:xfrm>
            <a:off x="696409" y="6277675"/>
            <a:ext cx="9982200" cy="18928218"/>
          </a:xfrm>
          <a:prstGeom prst="rect">
            <a:avLst/>
          </a:prstGeom>
          <a:noFill/>
          <a:ln>
            <a:noFill/>
          </a:ln>
        </p:spPr>
        <p:txBody>
          <a:bodyPr spcFirstLastPara="1" wrap="square" lIns="91425" tIns="45700" rIns="91425" bIns="45700" anchor="t" anchorCtr="0">
            <a:spAutoFit/>
          </a:bodyPr>
          <a:lstStyle/>
          <a:p>
            <a:r>
              <a:rPr lang="en-US" sz="3400" b="1" dirty="0">
                <a:latin typeface="Garamond" panose="02020404030301010803" pitchFamily="18" charset="0"/>
              </a:rPr>
              <a:t>ABSTRACT</a:t>
            </a:r>
          </a:p>
          <a:p>
            <a:r>
              <a:rPr lang="en-US" sz="3400" b="1" dirty="0">
                <a:latin typeface="Garamond" panose="02020404030301010803" pitchFamily="18" charset="0"/>
              </a:rPr>
              <a:t>Field:</a:t>
            </a:r>
            <a:r>
              <a:rPr lang="en-US" sz="3400" dirty="0">
                <a:latin typeface="Garamond" panose="02020404030301010803" pitchFamily="18" charset="0"/>
              </a:rPr>
              <a:t> This project, situated within the field of Computer Science, focuses on Data Structures and Algorithms (DSA), Object-Oriented Programming (OOP), and Cybersecurity. It utilizes the Stack data structure and the Last In, First Out (LIFO) principle to develop CyberStack, a C++-based Security Event and Command History Analyzer.</a:t>
            </a:r>
          </a:p>
          <a:p>
            <a:r>
              <a:rPr lang="en-US" sz="3400" b="1" dirty="0">
                <a:latin typeface="Garamond" panose="02020404030301010803" pitchFamily="18" charset="0"/>
              </a:rPr>
              <a:t>Purpose:</a:t>
            </a:r>
            <a:r>
              <a:rPr lang="en-US" sz="3400" dirty="0">
                <a:latin typeface="Garamond" panose="02020404030301010803" pitchFamily="18" charset="0"/>
              </a:rPr>
              <a:t> The primary aim of this project is to manage security-related events, including failed login attempts, password changes, unauthorized access attempts, and suspicious system activities. The application allows users to add, view, remove, and display security events using Stack operations such as Push, Pop, and Peek. These operations have O(1) time complexity, providing efficient access to the most recent events.</a:t>
            </a:r>
          </a:p>
          <a:p>
            <a:r>
              <a:rPr lang="en-US" sz="3400" b="1" dirty="0">
                <a:latin typeface="Garamond" panose="02020404030301010803" pitchFamily="18" charset="0"/>
              </a:rPr>
              <a:t>Future enhancements</a:t>
            </a:r>
            <a:r>
              <a:rPr lang="en-US" sz="3400" dirty="0">
                <a:latin typeface="Garamond" panose="02020404030301010803" pitchFamily="18" charset="0"/>
              </a:rPr>
              <a:t> include implementing Linked Lists for dynamic event storage, improving error handling, adding event searching, and introducing permanent security logs for auditing and investigation. Additional features could include event timestamps, automated security alerts, and integration with Security Information and Event Management (SIEM) systems.</a:t>
            </a:r>
          </a:p>
          <a:p>
            <a:r>
              <a:rPr lang="en-US" sz="3400" b="1" dirty="0">
                <a:latin typeface="Garamond" panose="02020404030301010803" pitchFamily="18" charset="0"/>
              </a:rPr>
              <a:t>Future enhancements using AI and Blockchain</a:t>
            </a:r>
            <a:r>
              <a:rPr lang="en-US" sz="3400" dirty="0">
                <a:latin typeface="Garamond" panose="02020404030301010803" pitchFamily="18" charset="0"/>
              </a:rPr>
              <a:t> include applying Artificial Intelligence and Machine Learning to identify suspicious patterns, unusual login attempts, and potential cyber threats. Blockchain technology and cryptographic hashing could also support secure audit verification and help protect permanently stored security records against unauthorized modification.</a:t>
            </a:r>
          </a:p>
          <a:p>
            <a:r>
              <a:rPr lang="en-US" sz="3400" dirty="0">
                <a:latin typeface="Garamond" panose="02020404030301010803" pitchFamily="18" charset="0"/>
              </a:rPr>
              <a:t>By incorporating these future enhancements, CyberStack aims to demonstrate how fundamental data structures can support cybersecurity applications and provide a foundation for developing more advanced. </a:t>
            </a:r>
            <a:r>
              <a:rPr lang="en-US" sz="3400" dirty="0" err="1">
                <a:latin typeface="Garamond" panose="02020404030301010803" pitchFamily="18" charset="0"/>
              </a:rPr>
              <a:t>intelligent,agement</a:t>
            </a:r>
            <a:r>
              <a:rPr lang="en-US" sz="3400" dirty="0">
                <a:latin typeface="Garamond" panose="02020404030301010803" pitchFamily="18" charset="0"/>
              </a:rPr>
              <a:t> systems.</a:t>
            </a:r>
          </a:p>
          <a:p>
            <a:pPr marL="0" marR="0" lvl="0" indent="0" algn="l" rtl="0">
              <a:lnSpc>
                <a:spcPct val="100000"/>
              </a:lnSpc>
              <a:spcBef>
                <a:spcPts val="0"/>
              </a:spcBef>
              <a:spcAft>
                <a:spcPts val="0"/>
              </a:spcAft>
              <a:buClr>
                <a:srgbClr val="000000"/>
              </a:buClr>
              <a:buSzPts val="2900"/>
              <a:buFont typeface="Arial"/>
              <a:buNone/>
            </a:pPr>
            <a:endParaRPr sz="3400" b="0" i="0" u="none" strike="noStrike" cap="none" dirty="0">
              <a:solidFill>
                <a:schemeClr val="dk1"/>
              </a:solidFill>
              <a:latin typeface="Garamond" panose="02020404030301010803" pitchFamily="18" charset="0"/>
              <a:sym typeface="Arial"/>
            </a:endParaRPr>
          </a:p>
        </p:txBody>
      </p:sp>
      <p:sp>
        <p:nvSpPr>
          <p:cNvPr id="77" name="Google Shape;77;p1"/>
          <p:cNvSpPr/>
          <p:nvPr/>
        </p:nvSpPr>
        <p:spPr>
          <a:xfrm>
            <a:off x="689075" y="29374196"/>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a:solidFill>
                  <a:srgbClr val="F8F8F8"/>
                </a:solidFill>
                <a:latin typeface="Garamond"/>
                <a:ea typeface="Garamond"/>
                <a:cs typeface="Garamond"/>
                <a:sym typeface="Garamond"/>
              </a:rPr>
              <a:t>Technolog</a:t>
            </a:r>
            <a:r>
              <a:rPr lang="en-US" sz="3600" b="1">
                <a:solidFill>
                  <a:srgbClr val="F8F8F8"/>
                </a:solidFill>
                <a:latin typeface="Garamond"/>
                <a:ea typeface="Garamond"/>
                <a:cs typeface="Garamond"/>
                <a:sym typeface="Garamond"/>
              </a:rPr>
              <a:t>ies </a:t>
            </a:r>
            <a:r>
              <a:rPr lang="en-US" sz="3600" b="1" i="0" u="none" strike="noStrike" cap="none">
                <a:solidFill>
                  <a:srgbClr val="F8F8F8"/>
                </a:solidFill>
                <a:latin typeface="Garamond"/>
                <a:ea typeface="Garamond"/>
                <a:cs typeface="Garamond"/>
                <a:sym typeface="Garamond"/>
              </a:rPr>
              <a:t>Used</a:t>
            </a:r>
            <a:endParaRPr sz="3600" i="0" u="none" strike="noStrike" cap="none">
              <a:solidFill>
                <a:srgbClr val="000000"/>
              </a:solidFill>
              <a:latin typeface="Garamond"/>
              <a:ea typeface="Garamond"/>
              <a:cs typeface="Garamond"/>
              <a:sym typeface="Garamond"/>
            </a:endParaRPr>
          </a:p>
        </p:txBody>
      </p:sp>
      <p:sp>
        <p:nvSpPr>
          <p:cNvPr id="78" name="Google Shape;78;p1"/>
          <p:cNvSpPr txBox="1"/>
          <p:nvPr/>
        </p:nvSpPr>
        <p:spPr>
          <a:xfrm>
            <a:off x="6509400" y="184500"/>
            <a:ext cx="30872400" cy="5093662"/>
          </a:xfrm>
          <a:prstGeom prst="rect">
            <a:avLst/>
          </a:prstGeom>
          <a:noFill/>
          <a:ln>
            <a:noFill/>
          </a:ln>
        </p:spPr>
        <p:txBody>
          <a:bodyPr spcFirstLastPara="1" wrap="square" lIns="91425" tIns="45700" rIns="91425" bIns="45700" anchor="t" anchorCtr="0">
            <a:spAutoFit/>
          </a:bodyPr>
          <a:lstStyle/>
          <a:p>
            <a:pPr lvl="0" algn="ctr">
              <a:buSzPts val="5800"/>
            </a:pPr>
            <a:r>
              <a:rPr lang="en-US" sz="7200" b="1" dirty="0">
                <a:solidFill>
                  <a:schemeClr val="accent1"/>
                </a:solidFill>
                <a:latin typeface="Garamond" panose="02020404030301010803" pitchFamily="18" charset="0"/>
              </a:rPr>
              <a:t>Design and Implementation of CyberStack: A C++ Stack-Based Security Event and Command History Analyzer with Applications in AI-Driven Cybersecurity and Blockchain. </a:t>
            </a:r>
            <a:r>
              <a:rPr lang="en-US" sz="5400" b="1" dirty="0">
                <a:solidFill>
                  <a:srgbClr val="FFFFFF"/>
                </a:solidFill>
                <a:latin typeface="Garamond" panose="02020404030301010803" pitchFamily="18" charset="0"/>
              </a:rPr>
              <a:t>Rushikesh Nayak</a:t>
            </a:r>
            <a:endParaRPr sz="11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4300" b="1" i="0" u="none" strike="noStrike" cap="none" dirty="0">
                <a:solidFill>
                  <a:srgbClr val="FFFFFF"/>
                </a:solidFill>
                <a:latin typeface="Garamond" panose="02020404030301010803" pitchFamily="18" charset="0"/>
                <a:sym typeface="Arial"/>
              </a:rPr>
              <a:t>Faculty Advisor: Dr. Victor Govindaswamy</a:t>
            </a:r>
            <a:endParaRPr sz="9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1800"/>
              </a:spcBef>
              <a:spcAft>
                <a:spcPts val="0"/>
              </a:spcAft>
              <a:buClr>
                <a:srgbClr val="000000"/>
              </a:buClr>
              <a:buSzPts val="3100"/>
              <a:buFont typeface="Arial"/>
              <a:buNone/>
            </a:pPr>
            <a:r>
              <a:rPr lang="en-US" sz="3100" b="1" i="0" u="none" strike="noStrike" cap="none" dirty="0">
                <a:solidFill>
                  <a:srgbClr val="FFFFFF"/>
                </a:solidFill>
                <a:latin typeface="Garamond" panose="02020404030301010803" pitchFamily="18" charset="0"/>
                <a:sym typeface="Arial"/>
              </a:rPr>
              <a:t>Concordia University Chicago</a:t>
            </a:r>
            <a:endParaRPr sz="900" b="0" i="0" u="none" strike="noStrike" cap="none" dirty="0">
              <a:solidFill>
                <a:srgbClr val="000000"/>
              </a:solidFill>
              <a:latin typeface="Garamond" panose="02020404030301010803" pitchFamily="18" charset="0"/>
              <a:sym typeface="Arial"/>
            </a:endParaRPr>
          </a:p>
        </p:txBody>
      </p:sp>
      <p:sp>
        <p:nvSpPr>
          <p:cNvPr id="80" name="Google Shape;80;p1"/>
          <p:cNvSpPr txBox="1"/>
          <p:nvPr/>
        </p:nvSpPr>
        <p:spPr>
          <a:xfrm>
            <a:off x="33041729" y="6286419"/>
            <a:ext cx="9982200" cy="1661953"/>
          </a:xfrm>
          <a:prstGeom prst="rect">
            <a:avLst/>
          </a:prstGeom>
          <a:noFill/>
          <a:ln>
            <a:noFill/>
          </a:ln>
        </p:spPr>
        <p:txBody>
          <a:bodyPr spcFirstLastPara="1" wrap="square" lIns="91425" tIns="45700" rIns="91425" bIns="45700" anchor="t" anchorCtr="0">
            <a:spAutoFit/>
          </a:bodyPr>
          <a:lstStyle/>
          <a:p>
            <a:pPr lvl="0">
              <a:buSzPts val="2900"/>
            </a:pPr>
            <a:r>
              <a:rPr lang="en-US" sz="3400" dirty="0">
                <a:latin typeface="Garamond" panose="02020404030301010803" pitchFamily="18" charset="0"/>
              </a:rPr>
              <a:t>the event-counting functionality, which determines and displays the total number of security events currently stored in the Stack.</a:t>
            </a:r>
            <a:endParaRPr sz="3400" i="0" u="none" strike="noStrike" cap="none" dirty="0">
              <a:solidFill>
                <a:schemeClr val="dk1"/>
              </a:solidFill>
              <a:latin typeface="Garamond" panose="02020404030301010803" pitchFamily="18" charset="0"/>
              <a:ea typeface="Garamond"/>
              <a:cs typeface="Garamond"/>
              <a:sym typeface="Garamond"/>
            </a:endParaRPr>
          </a:p>
        </p:txBody>
      </p:sp>
      <p:sp>
        <p:nvSpPr>
          <p:cNvPr id="81" name="Google Shape;81;p1"/>
          <p:cNvSpPr txBox="1"/>
          <p:nvPr/>
        </p:nvSpPr>
        <p:spPr>
          <a:xfrm>
            <a:off x="22283662" y="18750513"/>
            <a:ext cx="9960000" cy="1231076"/>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the Pop operation, which removes the topmost security event while maintaining the Stack's LIFO ordering.</a:t>
            </a:r>
            <a:endParaRPr sz="3400" dirty="0">
              <a:latin typeface="Garamond" panose="02020404030301010803" pitchFamily="18" charset="0"/>
              <a:ea typeface="Garamond"/>
              <a:cs typeface="Garamond"/>
              <a:sym typeface="Garamond"/>
            </a:endParaRPr>
          </a:p>
        </p:txBody>
      </p:sp>
      <p:sp>
        <p:nvSpPr>
          <p:cNvPr id="82" name="Google Shape;82;p1"/>
          <p:cNvSpPr/>
          <p:nvPr/>
        </p:nvSpPr>
        <p:spPr>
          <a:xfrm>
            <a:off x="11487550" y="1627639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Linked List</a:t>
            </a:r>
            <a:endParaRPr sz="3600" i="0" u="none" strike="noStrike" cap="none">
              <a:solidFill>
                <a:srgbClr val="000000"/>
              </a:solidFill>
              <a:latin typeface="Garamond"/>
              <a:ea typeface="Garamond"/>
              <a:cs typeface="Garamond"/>
              <a:sym typeface="Garamond"/>
            </a:endParaRPr>
          </a:p>
        </p:txBody>
      </p:sp>
      <p:sp>
        <p:nvSpPr>
          <p:cNvPr id="83" name="Google Shape;83;p1"/>
          <p:cNvSpPr txBox="1"/>
          <p:nvPr/>
        </p:nvSpPr>
        <p:spPr>
          <a:xfrm>
            <a:off x="11575500" y="16843960"/>
            <a:ext cx="9960000" cy="3323957"/>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Currently, the Security Event Analyzer uses a fixed-size array to store up to five security events. A future enhancement could replace this array with a Linked List to support dynamic memory allocation. This would allow the Stack to grow as needed, removing the fixed-capacity limitation and improving storage flexibility.</a:t>
            </a:r>
            <a:endParaRPr lang="en-US" sz="3400" dirty="0">
              <a:latin typeface="Garamond" panose="02020404030301010803" pitchFamily="18" charset="0"/>
              <a:ea typeface="Garamond"/>
              <a:cs typeface="Garamond"/>
              <a:sym typeface="Garamond"/>
            </a:endParaRPr>
          </a:p>
        </p:txBody>
      </p:sp>
      <p:sp>
        <p:nvSpPr>
          <p:cNvPr id="84" name="Google Shape;84;p1"/>
          <p:cNvSpPr/>
          <p:nvPr/>
        </p:nvSpPr>
        <p:spPr>
          <a:xfrm>
            <a:off x="33061800" y="2680092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Contacts</a:t>
            </a:r>
            <a:endParaRPr sz="3600" i="0" u="none" strike="noStrike" cap="none">
              <a:solidFill>
                <a:srgbClr val="000000"/>
              </a:solidFill>
              <a:latin typeface="Garamond"/>
              <a:ea typeface="Garamond"/>
              <a:cs typeface="Garamond"/>
              <a:sym typeface="Garamond"/>
            </a:endParaRPr>
          </a:p>
        </p:txBody>
      </p:sp>
      <p:sp>
        <p:nvSpPr>
          <p:cNvPr id="87" name="Google Shape;87;p1"/>
          <p:cNvSpPr txBox="1"/>
          <p:nvPr/>
        </p:nvSpPr>
        <p:spPr>
          <a:xfrm>
            <a:off x="22261695" y="6235016"/>
            <a:ext cx="9960000" cy="1754296"/>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displays the main menu of the Cybersecurity Event Analyzer, providing eight options to manage security events using Stack operations.</a:t>
            </a:r>
            <a:endParaRPr lang="en-US" sz="3400" dirty="0">
              <a:latin typeface="Garamond" panose="02020404030301010803" pitchFamily="18" charset="0"/>
              <a:ea typeface="Garamond"/>
              <a:cs typeface="Garamond"/>
              <a:sym typeface="Garamond"/>
            </a:endParaRPr>
          </a:p>
        </p:txBody>
      </p:sp>
      <p:sp>
        <p:nvSpPr>
          <p:cNvPr id="88" name="Google Shape;88;p1"/>
          <p:cNvSpPr txBox="1"/>
          <p:nvPr/>
        </p:nvSpPr>
        <p:spPr>
          <a:xfrm>
            <a:off x="22307698" y="11369065"/>
            <a:ext cx="9960000" cy="1754296"/>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the Push operation, where a new security event is inserted at the top of the Stack following the Last In, First Out (LIFO) principle.</a:t>
            </a:r>
            <a:endParaRPr sz="3400" dirty="0">
              <a:latin typeface="Garamond" panose="02020404030301010803" pitchFamily="18" charset="0"/>
              <a:ea typeface="Garamond"/>
              <a:cs typeface="Garamond"/>
              <a:sym typeface="Garamond"/>
            </a:endParaRPr>
          </a:p>
        </p:txBody>
      </p:sp>
      <p:sp>
        <p:nvSpPr>
          <p:cNvPr id="89" name="Google Shape;89;p1"/>
          <p:cNvSpPr/>
          <p:nvPr/>
        </p:nvSpPr>
        <p:spPr>
          <a:xfrm>
            <a:off x="22283050" y="10832400"/>
            <a:ext cx="9977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1:Add New Security Event-Push Operation </a:t>
            </a:r>
            <a:endParaRPr sz="3600" i="0" u="none" strike="noStrike" cap="none" dirty="0">
              <a:solidFill>
                <a:srgbClr val="000000"/>
              </a:solidFill>
              <a:latin typeface="Garamond"/>
              <a:ea typeface="Garamond"/>
              <a:cs typeface="Garamond"/>
              <a:sym typeface="Garamond"/>
            </a:endParaRPr>
          </a:p>
        </p:txBody>
      </p:sp>
      <p:sp>
        <p:nvSpPr>
          <p:cNvPr id="91" name="Google Shape;91;p1"/>
          <p:cNvSpPr/>
          <p:nvPr/>
        </p:nvSpPr>
        <p:spPr>
          <a:xfrm>
            <a:off x="22275375" y="18173572"/>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3 Remove Latest Security Event-Pop Operation</a:t>
            </a:r>
            <a:endParaRPr sz="3600" i="0" u="none" strike="noStrike" cap="none" dirty="0">
              <a:solidFill>
                <a:srgbClr val="000000"/>
              </a:solidFill>
              <a:latin typeface="Garamond"/>
              <a:ea typeface="Garamond"/>
              <a:cs typeface="Garamond"/>
              <a:sym typeface="Garamond"/>
            </a:endParaRPr>
          </a:p>
        </p:txBody>
      </p:sp>
      <p:sp>
        <p:nvSpPr>
          <p:cNvPr id="92" name="Google Shape;92;p1"/>
          <p:cNvSpPr txBox="1"/>
          <p:nvPr/>
        </p:nvSpPr>
        <p:spPr>
          <a:xfrm>
            <a:off x="22352338" y="14935692"/>
            <a:ext cx="9960000" cy="1754296"/>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the Peek operation, which retrieves the most recently added security event without modifying or removing any existing Stack elements.</a:t>
            </a:r>
            <a:endParaRPr sz="3400" i="0" u="none" strike="noStrike" cap="none" dirty="0">
              <a:solidFill>
                <a:srgbClr val="000000"/>
              </a:solidFill>
              <a:latin typeface="Garamond" panose="02020404030301010803" pitchFamily="18" charset="0"/>
              <a:ea typeface="Garamond"/>
              <a:cs typeface="Garamond"/>
              <a:sym typeface="Garamond"/>
            </a:endParaRPr>
          </a:p>
        </p:txBody>
      </p:sp>
      <p:sp>
        <p:nvSpPr>
          <p:cNvPr id="93" name="Google Shape;93;p1"/>
          <p:cNvSpPr txBox="1"/>
          <p:nvPr/>
        </p:nvSpPr>
        <p:spPr>
          <a:xfrm>
            <a:off x="22243575" y="22264276"/>
            <a:ext cx="9960000" cy="1754296"/>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displays all stored security events in reverse chronological order, illustrating the LIFO principle by presenting the most recently added event first.</a:t>
            </a:r>
            <a:endParaRPr sz="3400" dirty="0">
              <a:latin typeface="Garamond" panose="02020404030301010803" pitchFamily="18" charset="0"/>
              <a:ea typeface="Garamond"/>
              <a:cs typeface="Garamond"/>
              <a:sym typeface="Garamond"/>
            </a:endParaRPr>
          </a:p>
        </p:txBody>
      </p:sp>
      <p:sp>
        <p:nvSpPr>
          <p:cNvPr id="94" name="Google Shape;94;p1"/>
          <p:cNvSpPr txBox="1"/>
          <p:nvPr/>
        </p:nvSpPr>
        <p:spPr>
          <a:xfrm>
            <a:off x="33099701" y="27337651"/>
            <a:ext cx="9749700" cy="483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Bioinformatics And Technology Laboratory (BAT Lab)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r>
              <a:rPr lang="en-US" sz="2800" b="1" dirty="0">
                <a:solidFill>
                  <a:schemeClr val="dk1"/>
                </a:solidFill>
                <a:latin typeface="Garamond"/>
                <a:ea typeface="Garamond"/>
                <a:cs typeface="Garamond"/>
                <a:sym typeface="Garamond"/>
              </a:rPr>
              <a:t>Programming Application Implementation and Design (PAID)</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Computer Science Department (CSC@CUC)</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Member:</a:t>
            </a:r>
            <a:r>
              <a:rPr lang="en-US" sz="2800" i="0" u="none" strike="noStrike" cap="none" dirty="0">
                <a:solidFill>
                  <a:schemeClr val="dk1"/>
                </a:solidFill>
                <a:latin typeface="Garamond"/>
                <a:ea typeface="Garamond"/>
                <a:cs typeface="Garamond"/>
                <a:sym typeface="Garamond"/>
              </a:rPr>
              <a:t> 	</a:t>
            </a:r>
            <a:r>
              <a:rPr lang="en-US" sz="2800" dirty="0">
                <a:solidFill>
                  <a:schemeClr val="dk1"/>
                </a:solidFill>
                <a:latin typeface="Garamond"/>
                <a:ea typeface="Garamond"/>
                <a:cs typeface="Garamond"/>
                <a:sym typeface="Garamond"/>
              </a:rPr>
              <a:t>Rushikesh Nayak</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Advisor: 	</a:t>
            </a:r>
            <a:r>
              <a:rPr lang="en-US" sz="2800" i="0" u="none" strike="noStrike" cap="none" dirty="0">
                <a:solidFill>
                  <a:schemeClr val="dk1"/>
                </a:solidFill>
                <a:latin typeface="Garamond"/>
                <a:ea typeface="Garamond"/>
                <a:cs typeface="Garamond"/>
                <a:sym typeface="Garamond"/>
              </a:rPr>
              <a:t>Dr Visvasuresh (Victor) Govindaswamy</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Email:</a:t>
            </a:r>
            <a:r>
              <a:rPr lang="en-US" sz="2800" i="0" u="none" strike="noStrike" cap="none" dirty="0">
                <a:solidFill>
                  <a:schemeClr val="dk1"/>
                </a:solidFill>
                <a:latin typeface="Garamond"/>
                <a:ea typeface="Garamond"/>
                <a:cs typeface="Garamond"/>
                <a:sym typeface="Garamond"/>
              </a:rPr>
              <a:t> 	Victor.Govindaswamy@cuchicago.edu</a:t>
            </a:r>
            <a:r>
              <a:rPr lang="en-US" sz="2800" i="0" u="sng" strike="noStrike" cap="none" dirty="0">
                <a:solidFill>
                  <a:schemeClr val="hlink"/>
                </a:solidFill>
                <a:latin typeface="Garamond"/>
                <a:ea typeface="Garamond"/>
                <a:cs typeface="Garamond"/>
                <a:sym typeface="Garamond"/>
                <a:hlinkClick r:id="rId4"/>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Address:</a:t>
            </a:r>
            <a:r>
              <a:rPr lang="en-US" sz="2800" i="0" u="none" strike="noStrike" cap="none" dirty="0">
                <a:solidFill>
                  <a:schemeClr val="dk1"/>
                </a:solidFill>
                <a:latin typeface="Garamond"/>
                <a:ea typeface="Garamond"/>
                <a:cs typeface="Garamond"/>
                <a:sym typeface="Garamond"/>
              </a:rPr>
              <a:t> 	Concordia Chicago University</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7400 Augusta Street</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River Forest, IL, 6030</a:t>
            </a:r>
            <a:r>
              <a:rPr lang="en-US" sz="2800" dirty="0">
                <a:solidFill>
                  <a:schemeClr val="dk1"/>
                </a:solidFill>
                <a:latin typeface="Garamond"/>
                <a:ea typeface="Garamond"/>
                <a:cs typeface="Garamond"/>
                <a:sym typeface="Garamond"/>
              </a:rPr>
              <a:t>5</a:t>
            </a:r>
            <a:r>
              <a:rPr lang="en-US" sz="2800" i="0" u="none" strike="noStrike" cap="none" dirty="0">
                <a:solidFill>
                  <a:schemeClr val="dk1"/>
                </a:solidFill>
                <a:latin typeface="Garamond"/>
                <a:ea typeface="Garamond"/>
                <a:cs typeface="Garamond"/>
                <a:sym typeface="Garamond"/>
              </a:rPr>
              <a:t>-1499</a:t>
            </a:r>
            <a:endParaRPr sz="2800" i="0" u="none" strike="noStrike" cap="none" dirty="0">
              <a:solidFill>
                <a:srgbClr val="000000"/>
              </a:solidFill>
              <a:latin typeface="Garamond"/>
              <a:ea typeface="Garamond"/>
              <a:cs typeface="Garamond"/>
              <a:sym typeface="Garamond"/>
            </a:endParaRPr>
          </a:p>
        </p:txBody>
      </p:sp>
      <p:pic>
        <p:nvPicPr>
          <p:cNvPr id="99" name="Google Shape;99;p1"/>
          <p:cNvPicPr preferRelativeResize="0"/>
          <p:nvPr/>
        </p:nvPicPr>
        <p:blipFill>
          <a:blip r:embed="rId5">
            <a:alphaModFix/>
          </a:blip>
          <a:stretch>
            <a:fillRect/>
          </a:stretch>
        </p:blipFill>
        <p:spPr>
          <a:xfrm>
            <a:off x="909651" y="29739375"/>
            <a:ext cx="3119450" cy="2342159"/>
          </a:xfrm>
          <a:prstGeom prst="rect">
            <a:avLst/>
          </a:prstGeom>
          <a:noFill/>
          <a:ln>
            <a:noFill/>
          </a:ln>
        </p:spPr>
      </p:pic>
      <p:pic>
        <p:nvPicPr>
          <p:cNvPr id="115" name="Google Shape;115;p1"/>
          <p:cNvPicPr preferRelativeResize="0"/>
          <p:nvPr/>
        </p:nvPicPr>
        <p:blipFill>
          <a:blip r:embed="rId6">
            <a:alphaModFix/>
          </a:blip>
          <a:stretch>
            <a:fillRect/>
          </a:stretch>
        </p:blipFill>
        <p:spPr>
          <a:xfrm>
            <a:off x="3784074" y="29954925"/>
            <a:ext cx="3525550" cy="1983133"/>
          </a:xfrm>
          <a:prstGeom prst="rect">
            <a:avLst/>
          </a:prstGeom>
          <a:noFill/>
          <a:ln>
            <a:noFill/>
          </a:ln>
        </p:spPr>
      </p:pic>
      <p:sp>
        <p:nvSpPr>
          <p:cNvPr id="116" name="Google Shape;116;p1"/>
          <p:cNvSpPr/>
          <p:nvPr/>
        </p:nvSpPr>
        <p:spPr>
          <a:xfrm>
            <a:off x="696409" y="24010534"/>
            <a:ext cx="9971891"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UML Organizational Chart</a:t>
            </a:r>
            <a:endParaRPr sz="3600" i="0" u="none" strike="noStrike" cap="none" dirty="0">
              <a:solidFill>
                <a:srgbClr val="000000"/>
              </a:solidFill>
              <a:latin typeface="Garamond"/>
              <a:ea typeface="Garamond"/>
              <a:cs typeface="Garamond"/>
              <a:sym typeface="Garamond"/>
            </a:endParaRPr>
          </a:p>
        </p:txBody>
      </p:sp>
      <p:pic>
        <p:nvPicPr>
          <p:cNvPr id="118" name="Google Shape;118;p1"/>
          <p:cNvPicPr preferRelativeResize="0"/>
          <p:nvPr/>
        </p:nvPicPr>
        <p:blipFill>
          <a:blip r:embed="rId7">
            <a:alphaModFix/>
          </a:blip>
          <a:stretch>
            <a:fillRect/>
          </a:stretch>
        </p:blipFill>
        <p:spPr>
          <a:xfrm>
            <a:off x="7309625" y="29970675"/>
            <a:ext cx="3119450" cy="1757267"/>
          </a:xfrm>
          <a:prstGeom prst="rect">
            <a:avLst/>
          </a:prstGeom>
          <a:noFill/>
          <a:ln>
            <a:noFill/>
          </a:ln>
        </p:spPr>
      </p:pic>
      <p:sp>
        <p:nvSpPr>
          <p:cNvPr id="120" name="Google Shape;120;p1"/>
          <p:cNvSpPr/>
          <p:nvPr/>
        </p:nvSpPr>
        <p:spPr>
          <a:xfrm>
            <a:off x="11484325" y="20475800"/>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Error Handling</a:t>
            </a:r>
            <a:endParaRPr sz="3600" i="0" u="none" strike="noStrike" cap="none" dirty="0">
              <a:solidFill>
                <a:srgbClr val="000000"/>
              </a:solidFill>
              <a:latin typeface="Garamond"/>
              <a:ea typeface="Garamond"/>
              <a:cs typeface="Garamond"/>
              <a:sym typeface="Garamond"/>
            </a:endParaRPr>
          </a:p>
        </p:txBody>
      </p:sp>
      <p:sp>
        <p:nvSpPr>
          <p:cNvPr id="121" name="Google Shape;121;p1"/>
          <p:cNvSpPr txBox="1"/>
          <p:nvPr/>
        </p:nvSpPr>
        <p:spPr>
          <a:xfrm>
            <a:off x="11544750" y="21426789"/>
            <a:ext cx="9960000" cy="3847177"/>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The current application handles common errors, including Stack Overflow, Stack Underflow, and invalid menu selections. Future improvements could introduce stronger input validation, exception handling, and detailed error messages. These enhancements would improve program reliability, prevent unexpected behavior, and provide a smoother experience when users manage security events.</a:t>
            </a:r>
            <a:endParaRPr sz="3400" dirty="0">
              <a:latin typeface="Garamond" panose="02020404030301010803" pitchFamily="18" charset="0"/>
              <a:ea typeface="Garamond"/>
              <a:cs typeface="Garamond"/>
              <a:sym typeface="Garamond"/>
            </a:endParaRPr>
          </a:p>
        </p:txBody>
      </p:sp>
      <p:sp>
        <p:nvSpPr>
          <p:cNvPr id="122" name="Google Shape;122;p1"/>
          <p:cNvSpPr/>
          <p:nvPr/>
        </p:nvSpPr>
        <p:spPr>
          <a:xfrm>
            <a:off x="11483725" y="26325800"/>
            <a:ext cx="9977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Object-Oriented Programming (OOP)</a:t>
            </a:r>
            <a:endParaRPr sz="3600" i="0" u="none" strike="noStrike" cap="none" dirty="0">
              <a:solidFill>
                <a:srgbClr val="000000"/>
              </a:solidFill>
              <a:latin typeface="Garamond"/>
              <a:ea typeface="Garamond"/>
              <a:cs typeface="Garamond"/>
              <a:sym typeface="Garamond"/>
            </a:endParaRPr>
          </a:p>
        </p:txBody>
      </p:sp>
      <p:sp>
        <p:nvSpPr>
          <p:cNvPr id="123" name="Google Shape;123;p1"/>
          <p:cNvSpPr txBox="1"/>
          <p:nvPr/>
        </p:nvSpPr>
        <p:spPr>
          <a:xfrm>
            <a:off x="11498050" y="27144395"/>
            <a:ext cx="9960000" cy="4370397"/>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The application currently uses Object-Oriented Programming through the SecurityEventStack class, which organizes data and Stack operations. Future enhancements could introduce additional classes for security events, user management, and reporting. Applying encapsulation, inheritance, and polymorphism would improve code organization, maintainability, scalability, and the overall structure of the application.</a:t>
            </a:r>
            <a:endParaRPr sz="3400" dirty="0">
              <a:latin typeface="Garamond" panose="02020404030301010803" pitchFamily="18" charset="0"/>
              <a:ea typeface="Garamond"/>
              <a:cs typeface="Garamond"/>
              <a:sym typeface="Garamond"/>
            </a:endParaRPr>
          </a:p>
        </p:txBody>
      </p:sp>
      <p:sp>
        <p:nvSpPr>
          <p:cNvPr id="124" name="Google Shape;124;p1"/>
          <p:cNvSpPr/>
          <p:nvPr/>
        </p:nvSpPr>
        <p:spPr>
          <a:xfrm>
            <a:off x="686100" y="563887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Abstract</a:t>
            </a:r>
            <a:endParaRPr sz="3600" i="0" u="none" strike="noStrike" cap="none">
              <a:solidFill>
                <a:srgbClr val="000000"/>
              </a:solidFill>
              <a:latin typeface="Garamond"/>
              <a:ea typeface="Garamond"/>
              <a:cs typeface="Garamond"/>
              <a:sym typeface="Garamond"/>
            </a:endParaRPr>
          </a:p>
        </p:txBody>
      </p:sp>
      <p:pic>
        <p:nvPicPr>
          <p:cNvPr id="2" name="Picture 1" descr="CSCUCV1Big.jpg">
            <a:extLst>
              <a:ext uri="{FF2B5EF4-FFF2-40B4-BE49-F238E27FC236}">
                <a16:creationId xmlns:a16="http://schemas.microsoft.com/office/drawing/2014/main" id="{187345C8-ABC2-0BF8-5280-A751B488195A}"/>
              </a:ext>
            </a:extLst>
          </p:cNvPr>
          <p:cNvPicPr>
            <a:picLocks noChangeAspect="1"/>
          </p:cNvPicPr>
          <p:nvPr/>
        </p:nvPicPr>
        <p:blipFill>
          <a:blip r:embed="rId8" cstate="print"/>
          <a:stretch>
            <a:fillRect/>
          </a:stretch>
        </p:blipFill>
        <p:spPr>
          <a:xfrm>
            <a:off x="11490325" y="2420899"/>
            <a:ext cx="1849898" cy="2390475"/>
          </a:xfrm>
          <a:prstGeom prst="rect">
            <a:avLst/>
          </a:prstGeom>
        </p:spPr>
      </p:pic>
      <p:pic>
        <p:nvPicPr>
          <p:cNvPr id="3" name="Picture 2" descr="CSCUCV1Big.jpg">
            <a:extLst>
              <a:ext uri="{FF2B5EF4-FFF2-40B4-BE49-F238E27FC236}">
                <a16:creationId xmlns:a16="http://schemas.microsoft.com/office/drawing/2014/main" id="{10133330-F11B-8F00-F989-4A0B9CEB07DB}"/>
              </a:ext>
            </a:extLst>
          </p:cNvPr>
          <p:cNvPicPr>
            <a:picLocks noChangeAspect="1"/>
          </p:cNvPicPr>
          <p:nvPr/>
        </p:nvPicPr>
        <p:blipFill>
          <a:blip r:embed="rId8" cstate="print"/>
          <a:stretch>
            <a:fillRect/>
          </a:stretch>
        </p:blipFill>
        <p:spPr>
          <a:xfrm>
            <a:off x="30409690" y="2450396"/>
            <a:ext cx="1849898" cy="2390475"/>
          </a:xfrm>
          <a:prstGeom prst="rect">
            <a:avLst/>
          </a:prstGeom>
        </p:spPr>
      </p:pic>
      <p:sp>
        <p:nvSpPr>
          <p:cNvPr id="4" name="Google Shape;82;p1">
            <a:extLst>
              <a:ext uri="{FF2B5EF4-FFF2-40B4-BE49-F238E27FC236}">
                <a16:creationId xmlns:a16="http://schemas.microsoft.com/office/drawing/2014/main" id="{A7067EA1-8ACC-9755-78B2-6033F072FAEC}"/>
              </a:ext>
            </a:extLst>
          </p:cNvPr>
          <p:cNvSpPr/>
          <p:nvPr/>
        </p:nvSpPr>
        <p:spPr>
          <a:xfrm>
            <a:off x="11487550" y="563887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Further Future Work</a:t>
            </a:r>
            <a:endParaRPr sz="3600" i="0" u="none" strike="noStrike" cap="none" dirty="0">
              <a:solidFill>
                <a:srgbClr val="000000"/>
              </a:solidFill>
              <a:latin typeface="Garamond"/>
              <a:ea typeface="Garamond"/>
              <a:cs typeface="Garamond"/>
              <a:sym typeface="Garamond"/>
            </a:endParaRPr>
          </a:p>
        </p:txBody>
      </p:sp>
      <p:sp>
        <p:nvSpPr>
          <p:cNvPr id="5" name="Google Shape;83;p1">
            <a:extLst>
              <a:ext uri="{FF2B5EF4-FFF2-40B4-BE49-F238E27FC236}">
                <a16:creationId xmlns:a16="http://schemas.microsoft.com/office/drawing/2014/main" id="{0E44522B-F458-4CFE-AF4D-8EBAAFCB4655}"/>
              </a:ext>
            </a:extLst>
          </p:cNvPr>
          <p:cNvSpPr txBox="1"/>
          <p:nvPr/>
        </p:nvSpPr>
        <p:spPr>
          <a:xfrm>
            <a:off x="11609981" y="6286419"/>
            <a:ext cx="9960000" cy="10649039"/>
          </a:xfrm>
          <a:prstGeom prst="rect">
            <a:avLst/>
          </a:prstGeom>
          <a:noFill/>
          <a:ln>
            <a:noFill/>
          </a:ln>
        </p:spPr>
        <p:txBody>
          <a:bodyPr spcFirstLastPara="1" wrap="square" lIns="91425" tIns="91425" rIns="91425" bIns="91425" anchor="t" anchorCtr="0">
            <a:spAutoFit/>
          </a:bodyPr>
          <a:lstStyle/>
          <a:p>
            <a:r>
              <a:rPr lang="en-US" sz="3400" b="1" dirty="0">
                <a:latin typeface="Garamond" panose="02020404030301010803" pitchFamily="18" charset="0"/>
              </a:rPr>
              <a:t>Linked List Implementation:</a:t>
            </a:r>
            <a:r>
              <a:rPr lang="en-US" sz="3400" dirty="0">
                <a:latin typeface="Garamond" panose="02020404030301010803" pitchFamily="18" charset="0"/>
              </a:rPr>
              <a:t> Using a Linked List for dynamic storage of security events without fixed-size limitations.</a:t>
            </a:r>
          </a:p>
          <a:p>
            <a:r>
              <a:rPr lang="en-US" sz="3400" b="1" dirty="0">
                <a:latin typeface="Garamond" panose="02020404030301010803" pitchFamily="18" charset="0"/>
              </a:rPr>
              <a:t>Advanced Error Handling:</a:t>
            </a:r>
            <a:r>
              <a:rPr lang="en-US" sz="3400" dirty="0">
                <a:latin typeface="Garamond" panose="02020404030301010803" pitchFamily="18" charset="0"/>
              </a:rPr>
              <a:t> Improving input validation and error management to ensure reliable program execution.</a:t>
            </a:r>
          </a:p>
          <a:p>
            <a:r>
              <a:rPr lang="en-US" sz="3400" b="1" dirty="0">
                <a:latin typeface="Garamond" panose="02020404030301010803" pitchFamily="18" charset="0"/>
              </a:rPr>
              <a:t>OOP Enhancements:</a:t>
            </a:r>
            <a:r>
              <a:rPr lang="en-US" sz="3400" dirty="0">
                <a:latin typeface="Garamond" panose="02020404030301010803" pitchFamily="18" charset="0"/>
              </a:rPr>
              <a:t> Introducing additional classes to improve code organization, flexibility, and maintainability.</a:t>
            </a:r>
          </a:p>
          <a:p>
            <a:r>
              <a:rPr lang="en-US" sz="3400" b="1" dirty="0">
                <a:latin typeface="Garamond" panose="02020404030301010803" pitchFamily="18" charset="0"/>
              </a:rPr>
              <a:t>Security Event Searching:</a:t>
            </a:r>
            <a:r>
              <a:rPr lang="en-US" sz="3400" dirty="0">
                <a:latin typeface="Garamond" panose="02020404030301010803" pitchFamily="18" charset="0"/>
              </a:rPr>
              <a:t> Adding functionality to search and retrieve specific security events efficiently.</a:t>
            </a:r>
          </a:p>
          <a:p>
            <a:r>
              <a:rPr lang="en-US" sz="3400" b="1" dirty="0">
                <a:latin typeface="Garamond" panose="02020404030301010803" pitchFamily="18" charset="0"/>
              </a:rPr>
              <a:t>File Management:</a:t>
            </a:r>
            <a:r>
              <a:rPr lang="en-US" sz="3400" dirty="0">
                <a:latin typeface="Garamond" panose="02020404030301010803" pitchFamily="18" charset="0"/>
              </a:rPr>
              <a:t> Implementing file storage to save and access security event history.</a:t>
            </a:r>
          </a:p>
          <a:p>
            <a:r>
              <a:rPr lang="en-US" sz="3400" b="1" dirty="0">
                <a:latin typeface="Garamond" panose="02020404030301010803" pitchFamily="18" charset="0"/>
              </a:rPr>
              <a:t>Automated Security Alerts:</a:t>
            </a:r>
            <a:r>
              <a:rPr lang="en-US" sz="3400" dirty="0">
                <a:latin typeface="Garamond" panose="02020404030301010803" pitchFamily="18" charset="0"/>
              </a:rPr>
              <a:t> Introducing alerts to notify users about suspicious activities and potential security threats.</a:t>
            </a:r>
          </a:p>
          <a:p>
            <a:r>
              <a:rPr lang="en-US" sz="3400" b="1" dirty="0">
                <a:latin typeface="Garamond" panose="02020404030301010803" pitchFamily="18" charset="0"/>
              </a:rPr>
              <a:t>Event Timestamps:</a:t>
            </a:r>
            <a:r>
              <a:rPr lang="en-US" sz="3400" dirty="0">
                <a:latin typeface="Garamond" panose="02020404030301010803" pitchFamily="18" charset="0"/>
              </a:rPr>
              <a:t> Recording the date and time of security events for accurate tracking.</a:t>
            </a:r>
          </a:p>
          <a:p>
            <a:r>
              <a:rPr lang="en-US" sz="3400" b="1" dirty="0">
                <a:latin typeface="Garamond" panose="02020404030301010803" pitchFamily="18" charset="0"/>
              </a:rPr>
              <a:t>Security Reporting:</a:t>
            </a:r>
            <a:r>
              <a:rPr lang="en-US" sz="3400" dirty="0">
                <a:latin typeface="Garamond" panose="02020404030301010803" pitchFamily="18" charset="0"/>
              </a:rPr>
              <a:t> Generating detailed reports to analyze security activities and identify potential risks.</a:t>
            </a:r>
          </a:p>
          <a:p>
            <a:pPr marL="0" marR="0" lvl="0" indent="0" algn="l" rtl="0">
              <a:lnSpc>
                <a:spcPct val="100000"/>
              </a:lnSpc>
              <a:spcBef>
                <a:spcPts val="0"/>
              </a:spcBef>
              <a:spcAft>
                <a:spcPts val="0"/>
              </a:spcAft>
              <a:buClr>
                <a:srgbClr val="000000"/>
              </a:buClr>
              <a:buSzPts val="2900"/>
              <a:buFont typeface="Arial"/>
              <a:buNone/>
            </a:pPr>
            <a:endParaRPr lang="en-US" sz="3400" dirty="0">
              <a:latin typeface="Garamond" panose="02020404030301010803" pitchFamily="18" charset="0"/>
              <a:ea typeface="Garamond"/>
              <a:cs typeface="Garamond"/>
              <a:sym typeface="Garamond"/>
            </a:endParaRPr>
          </a:p>
        </p:txBody>
      </p:sp>
      <p:pic>
        <p:nvPicPr>
          <p:cNvPr id="7" name="Picture 6">
            <a:extLst>
              <a:ext uri="{FF2B5EF4-FFF2-40B4-BE49-F238E27FC236}">
                <a16:creationId xmlns:a16="http://schemas.microsoft.com/office/drawing/2014/main" id="{4EFB4317-5DB2-D7FF-01F6-32218C6AF3D9}"/>
              </a:ext>
            </a:extLst>
          </p:cNvPr>
          <p:cNvPicPr>
            <a:picLocks noChangeAspect="1"/>
          </p:cNvPicPr>
          <p:nvPr/>
        </p:nvPicPr>
        <p:blipFill>
          <a:blip r:embed="rId9"/>
          <a:srcRect r="17653"/>
          <a:stretch>
            <a:fillRect/>
          </a:stretch>
        </p:blipFill>
        <p:spPr>
          <a:xfrm>
            <a:off x="22286515" y="8231363"/>
            <a:ext cx="9977486" cy="2571882"/>
          </a:xfrm>
          <a:prstGeom prst="rect">
            <a:avLst/>
          </a:prstGeom>
        </p:spPr>
      </p:pic>
      <p:pic>
        <p:nvPicPr>
          <p:cNvPr id="9" name="Picture 8">
            <a:extLst>
              <a:ext uri="{FF2B5EF4-FFF2-40B4-BE49-F238E27FC236}">
                <a16:creationId xmlns:a16="http://schemas.microsoft.com/office/drawing/2014/main" id="{DA4465AD-4ED4-905C-2A2C-D0D8F63FB0FC}"/>
              </a:ext>
            </a:extLst>
          </p:cNvPr>
          <p:cNvPicPr>
            <a:picLocks noChangeAspect="1"/>
          </p:cNvPicPr>
          <p:nvPr/>
        </p:nvPicPr>
        <p:blipFill>
          <a:blip r:embed="rId10"/>
          <a:srcRect r="17230"/>
          <a:stretch>
            <a:fillRect/>
          </a:stretch>
        </p:blipFill>
        <p:spPr>
          <a:xfrm>
            <a:off x="22286204" y="13159683"/>
            <a:ext cx="9981494" cy="1066855"/>
          </a:xfrm>
          <a:prstGeom prst="rect">
            <a:avLst/>
          </a:prstGeom>
        </p:spPr>
      </p:pic>
      <p:pic>
        <p:nvPicPr>
          <p:cNvPr id="14" name="Picture 13">
            <a:extLst>
              <a:ext uri="{FF2B5EF4-FFF2-40B4-BE49-F238E27FC236}">
                <a16:creationId xmlns:a16="http://schemas.microsoft.com/office/drawing/2014/main" id="{FBB2377F-BD3D-6942-02B0-44211FF0438B}"/>
              </a:ext>
            </a:extLst>
          </p:cNvPr>
          <p:cNvPicPr>
            <a:picLocks noChangeAspect="1"/>
          </p:cNvPicPr>
          <p:nvPr/>
        </p:nvPicPr>
        <p:blipFill>
          <a:blip r:embed="rId11"/>
          <a:srcRect r="17851"/>
          <a:stretch>
            <a:fillRect/>
          </a:stretch>
        </p:blipFill>
        <p:spPr>
          <a:xfrm>
            <a:off x="22281800" y="16984679"/>
            <a:ext cx="9984783" cy="1085906"/>
          </a:xfrm>
          <a:prstGeom prst="rect">
            <a:avLst/>
          </a:prstGeom>
        </p:spPr>
      </p:pic>
      <p:pic>
        <p:nvPicPr>
          <p:cNvPr id="16" name="Picture 15">
            <a:extLst>
              <a:ext uri="{FF2B5EF4-FFF2-40B4-BE49-F238E27FC236}">
                <a16:creationId xmlns:a16="http://schemas.microsoft.com/office/drawing/2014/main" id="{67B472C2-B3A4-1430-7B95-84A033B54650}"/>
              </a:ext>
            </a:extLst>
          </p:cNvPr>
          <p:cNvPicPr>
            <a:picLocks noChangeAspect="1"/>
          </p:cNvPicPr>
          <p:nvPr/>
        </p:nvPicPr>
        <p:blipFill>
          <a:blip r:embed="rId12"/>
          <a:srcRect r="18096"/>
          <a:stretch>
            <a:fillRect/>
          </a:stretch>
        </p:blipFill>
        <p:spPr>
          <a:xfrm>
            <a:off x="22283763" y="20526043"/>
            <a:ext cx="9975825" cy="1035103"/>
          </a:xfrm>
          <a:prstGeom prst="rect">
            <a:avLst/>
          </a:prstGeom>
        </p:spPr>
      </p:pic>
      <p:sp>
        <p:nvSpPr>
          <p:cNvPr id="18" name="Google Shape;91;p1">
            <a:extLst>
              <a:ext uri="{FF2B5EF4-FFF2-40B4-BE49-F238E27FC236}">
                <a16:creationId xmlns:a16="http://schemas.microsoft.com/office/drawing/2014/main" id="{8EDC63ED-E6F8-A442-108B-CC9894ABD3C9}"/>
              </a:ext>
            </a:extLst>
          </p:cNvPr>
          <p:cNvSpPr/>
          <p:nvPr/>
        </p:nvSpPr>
        <p:spPr>
          <a:xfrm>
            <a:off x="22290275" y="21672712"/>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4 Display All Security Event-Stack Visualization</a:t>
            </a:r>
            <a:endParaRPr sz="3600" i="0" u="none" strike="noStrike" cap="none" dirty="0">
              <a:solidFill>
                <a:srgbClr val="000000"/>
              </a:solidFill>
              <a:latin typeface="Garamond"/>
              <a:ea typeface="Garamond"/>
              <a:cs typeface="Garamond"/>
              <a:sym typeface="Garamond"/>
            </a:endParaRPr>
          </a:p>
        </p:txBody>
      </p:sp>
      <p:pic>
        <p:nvPicPr>
          <p:cNvPr id="20" name="Picture 19">
            <a:extLst>
              <a:ext uri="{FF2B5EF4-FFF2-40B4-BE49-F238E27FC236}">
                <a16:creationId xmlns:a16="http://schemas.microsoft.com/office/drawing/2014/main" id="{79641BAC-CF2A-B346-F2EE-23451E4D4620}"/>
              </a:ext>
            </a:extLst>
          </p:cNvPr>
          <p:cNvPicPr>
            <a:picLocks noChangeAspect="1"/>
          </p:cNvPicPr>
          <p:nvPr/>
        </p:nvPicPr>
        <p:blipFill>
          <a:blip r:embed="rId13"/>
          <a:srcRect r="17601"/>
          <a:stretch>
            <a:fillRect/>
          </a:stretch>
        </p:blipFill>
        <p:spPr>
          <a:xfrm>
            <a:off x="22287644" y="24312519"/>
            <a:ext cx="9989100" cy="1828894"/>
          </a:xfrm>
          <a:prstGeom prst="rect">
            <a:avLst/>
          </a:prstGeom>
        </p:spPr>
      </p:pic>
      <p:sp>
        <p:nvSpPr>
          <p:cNvPr id="22" name="Google Shape;91;p1">
            <a:extLst>
              <a:ext uri="{FF2B5EF4-FFF2-40B4-BE49-F238E27FC236}">
                <a16:creationId xmlns:a16="http://schemas.microsoft.com/office/drawing/2014/main" id="{E5EC300A-3540-DFBF-9ABD-14370021D5B4}"/>
              </a:ext>
            </a:extLst>
          </p:cNvPr>
          <p:cNvSpPr/>
          <p:nvPr/>
        </p:nvSpPr>
        <p:spPr>
          <a:xfrm>
            <a:off x="22299807" y="26576475"/>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5 Check Stack Status-Stack Validation</a:t>
            </a:r>
            <a:endParaRPr lang="en-US" sz="3600" i="0" u="none" strike="noStrike" cap="none" dirty="0">
              <a:solidFill>
                <a:srgbClr val="000000"/>
              </a:solidFill>
              <a:latin typeface="Garamond"/>
              <a:ea typeface="Garamond"/>
              <a:cs typeface="Garamond"/>
              <a:sym typeface="Garamond"/>
            </a:endParaRPr>
          </a:p>
        </p:txBody>
      </p:sp>
      <p:sp>
        <p:nvSpPr>
          <p:cNvPr id="24" name="Google Shape;93;p1">
            <a:extLst>
              <a:ext uri="{FF2B5EF4-FFF2-40B4-BE49-F238E27FC236}">
                <a16:creationId xmlns:a16="http://schemas.microsoft.com/office/drawing/2014/main" id="{AE98F7C6-D491-AB18-20B5-C8993F0A4A53}"/>
              </a:ext>
            </a:extLst>
          </p:cNvPr>
          <p:cNvSpPr txBox="1"/>
          <p:nvPr/>
        </p:nvSpPr>
        <p:spPr>
          <a:xfrm>
            <a:off x="22304825" y="27328722"/>
            <a:ext cx="9960000" cy="1754296"/>
          </a:xfrm>
          <a:prstGeom prst="rect">
            <a:avLst/>
          </a:prstGeom>
          <a:noFill/>
          <a:ln>
            <a:noFill/>
          </a:ln>
        </p:spPr>
        <p:txBody>
          <a:bodyPr spcFirstLastPara="1" wrap="square" lIns="91425" tIns="91425" rIns="91425" bIns="91425" anchor="t" anchorCtr="0">
            <a:spAutoFit/>
          </a:bodyPr>
          <a:lstStyle/>
          <a:p>
            <a:pPr lvl="0">
              <a:buSzPts val="2900"/>
            </a:pPr>
            <a:r>
              <a:rPr lang="en-US" sz="3400" dirty="0">
                <a:latin typeface="Garamond" panose="02020404030301010803" pitchFamily="18" charset="0"/>
              </a:rPr>
              <a:t>the Stack status functionality, which evaluates whether the Stack is empty and whether additional security events can be accommodated.</a:t>
            </a:r>
            <a:endParaRPr sz="3400" dirty="0">
              <a:latin typeface="Garamond" panose="02020404030301010803" pitchFamily="18" charset="0"/>
              <a:ea typeface="Garamond"/>
              <a:cs typeface="Garamond"/>
              <a:sym typeface="Garamond"/>
            </a:endParaRPr>
          </a:p>
        </p:txBody>
      </p:sp>
      <p:pic>
        <p:nvPicPr>
          <p:cNvPr id="26" name="Picture 25">
            <a:extLst>
              <a:ext uri="{FF2B5EF4-FFF2-40B4-BE49-F238E27FC236}">
                <a16:creationId xmlns:a16="http://schemas.microsoft.com/office/drawing/2014/main" id="{1E5186B4-C166-527C-3129-BFE51856C350}"/>
              </a:ext>
            </a:extLst>
          </p:cNvPr>
          <p:cNvPicPr>
            <a:picLocks noChangeAspect="1"/>
          </p:cNvPicPr>
          <p:nvPr/>
        </p:nvPicPr>
        <p:blipFill>
          <a:blip r:embed="rId14"/>
          <a:srcRect r="18037"/>
          <a:stretch>
            <a:fillRect/>
          </a:stretch>
        </p:blipFill>
        <p:spPr>
          <a:xfrm>
            <a:off x="22283530" y="29805039"/>
            <a:ext cx="9983053" cy="1244664"/>
          </a:xfrm>
          <a:prstGeom prst="rect">
            <a:avLst/>
          </a:prstGeom>
        </p:spPr>
      </p:pic>
      <p:pic>
        <p:nvPicPr>
          <p:cNvPr id="28" name="Picture 27">
            <a:extLst>
              <a:ext uri="{FF2B5EF4-FFF2-40B4-BE49-F238E27FC236}">
                <a16:creationId xmlns:a16="http://schemas.microsoft.com/office/drawing/2014/main" id="{3F209AA7-BAC0-57A6-6C91-BF4577E56CE1}"/>
              </a:ext>
            </a:extLst>
          </p:cNvPr>
          <p:cNvPicPr>
            <a:picLocks noChangeAspect="1"/>
          </p:cNvPicPr>
          <p:nvPr/>
        </p:nvPicPr>
        <p:blipFill>
          <a:blip r:embed="rId15"/>
          <a:srcRect r="17852"/>
          <a:stretch>
            <a:fillRect/>
          </a:stretch>
        </p:blipFill>
        <p:spPr>
          <a:xfrm>
            <a:off x="33064024" y="8274182"/>
            <a:ext cx="9984657" cy="1047804"/>
          </a:xfrm>
          <a:prstGeom prst="rect">
            <a:avLst/>
          </a:prstGeom>
        </p:spPr>
      </p:pic>
      <p:sp>
        <p:nvSpPr>
          <p:cNvPr id="30" name="Google Shape;75;p1">
            <a:extLst>
              <a:ext uri="{FF2B5EF4-FFF2-40B4-BE49-F238E27FC236}">
                <a16:creationId xmlns:a16="http://schemas.microsoft.com/office/drawing/2014/main" id="{FA9423B5-B50F-000E-DDC8-4C82D578FA1A}"/>
              </a:ext>
            </a:extLst>
          </p:cNvPr>
          <p:cNvSpPr/>
          <p:nvPr/>
        </p:nvSpPr>
        <p:spPr>
          <a:xfrm>
            <a:off x="33063110" y="9472886"/>
            <a:ext cx="99891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7: Clear Event History-Stack Reset Operation</a:t>
            </a:r>
            <a:endParaRPr sz="3600" i="0" u="none" strike="noStrike" cap="none" dirty="0">
              <a:solidFill>
                <a:srgbClr val="000000"/>
              </a:solidFill>
              <a:latin typeface="Garamond"/>
              <a:ea typeface="Garamond"/>
              <a:cs typeface="Garamond"/>
              <a:sym typeface="Garamond"/>
            </a:endParaRPr>
          </a:p>
        </p:txBody>
      </p:sp>
      <p:sp>
        <p:nvSpPr>
          <p:cNvPr id="32" name="Google Shape;80;p1">
            <a:extLst>
              <a:ext uri="{FF2B5EF4-FFF2-40B4-BE49-F238E27FC236}">
                <a16:creationId xmlns:a16="http://schemas.microsoft.com/office/drawing/2014/main" id="{836D8DC3-0ECF-4FBA-D903-C13B81C1579A}"/>
              </a:ext>
            </a:extLst>
          </p:cNvPr>
          <p:cNvSpPr txBox="1"/>
          <p:nvPr/>
        </p:nvSpPr>
        <p:spPr>
          <a:xfrm>
            <a:off x="32997867" y="10534557"/>
            <a:ext cx="9982200" cy="1661953"/>
          </a:xfrm>
          <a:prstGeom prst="rect">
            <a:avLst/>
          </a:prstGeom>
          <a:noFill/>
          <a:ln>
            <a:noFill/>
          </a:ln>
        </p:spPr>
        <p:txBody>
          <a:bodyPr spcFirstLastPara="1" wrap="square" lIns="91425" tIns="45700" rIns="91425" bIns="45700" anchor="t" anchorCtr="0">
            <a:spAutoFit/>
          </a:bodyPr>
          <a:lstStyle/>
          <a:p>
            <a:pPr lvl="0">
              <a:buSzPts val="2900"/>
            </a:pPr>
            <a:r>
              <a:rPr lang="en-US" sz="3400" dirty="0">
                <a:latin typeface="Garamond" panose="02020404030301010803" pitchFamily="18" charset="0"/>
              </a:rPr>
              <a:t>the Clear operation, which removes all stored security events after user confirmation and restores the Stack to its initial empty state.</a:t>
            </a:r>
            <a:endParaRPr sz="3400" i="0" u="none" strike="noStrike" cap="none" dirty="0">
              <a:solidFill>
                <a:schemeClr val="dk1"/>
              </a:solidFill>
              <a:latin typeface="Garamond" panose="02020404030301010803" pitchFamily="18" charset="0"/>
              <a:ea typeface="Garamond"/>
              <a:cs typeface="Garamond"/>
              <a:sym typeface="Garamond"/>
            </a:endParaRPr>
          </a:p>
        </p:txBody>
      </p:sp>
      <p:pic>
        <p:nvPicPr>
          <p:cNvPr id="35" name="Picture 34">
            <a:extLst>
              <a:ext uri="{FF2B5EF4-FFF2-40B4-BE49-F238E27FC236}">
                <a16:creationId xmlns:a16="http://schemas.microsoft.com/office/drawing/2014/main" id="{9BF56972-F3FB-582F-AE2C-902E9ED39DF7}"/>
              </a:ext>
            </a:extLst>
          </p:cNvPr>
          <p:cNvPicPr>
            <a:picLocks noChangeAspect="1"/>
          </p:cNvPicPr>
          <p:nvPr/>
        </p:nvPicPr>
        <p:blipFill>
          <a:blip r:embed="rId16"/>
          <a:srcRect r="18150"/>
          <a:stretch>
            <a:fillRect/>
          </a:stretch>
        </p:blipFill>
        <p:spPr>
          <a:xfrm>
            <a:off x="33065735" y="12713222"/>
            <a:ext cx="9969309" cy="1428823"/>
          </a:xfrm>
          <a:prstGeom prst="rect">
            <a:avLst/>
          </a:prstGeom>
        </p:spPr>
      </p:pic>
      <p:sp>
        <p:nvSpPr>
          <p:cNvPr id="37" name="Google Shape;95;p1">
            <a:extLst>
              <a:ext uri="{FF2B5EF4-FFF2-40B4-BE49-F238E27FC236}">
                <a16:creationId xmlns:a16="http://schemas.microsoft.com/office/drawing/2014/main" id="{9A953F51-537A-90A1-BC50-A306148D0A8D}"/>
              </a:ext>
            </a:extLst>
          </p:cNvPr>
          <p:cNvSpPr/>
          <p:nvPr/>
        </p:nvSpPr>
        <p:spPr>
          <a:xfrm>
            <a:off x="33074276" y="14280075"/>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8: Stack Overflow-Capacity validation</a:t>
            </a:r>
            <a:endParaRPr sz="3600" i="0" u="none" strike="noStrike" cap="none" dirty="0">
              <a:solidFill>
                <a:srgbClr val="000000"/>
              </a:solidFill>
              <a:latin typeface="Garamond"/>
              <a:ea typeface="Garamond"/>
              <a:cs typeface="Garamond"/>
              <a:sym typeface="Garamond"/>
            </a:endParaRPr>
          </a:p>
        </p:txBody>
      </p:sp>
      <p:sp>
        <p:nvSpPr>
          <p:cNvPr id="39" name="Google Shape;80;p1">
            <a:extLst>
              <a:ext uri="{FF2B5EF4-FFF2-40B4-BE49-F238E27FC236}">
                <a16:creationId xmlns:a16="http://schemas.microsoft.com/office/drawing/2014/main" id="{C3F0DC24-A3DD-2C6B-2A05-248222344E9F}"/>
              </a:ext>
            </a:extLst>
          </p:cNvPr>
          <p:cNvSpPr txBox="1"/>
          <p:nvPr/>
        </p:nvSpPr>
        <p:spPr>
          <a:xfrm>
            <a:off x="33094695" y="15277804"/>
            <a:ext cx="9982200" cy="1661953"/>
          </a:xfrm>
          <a:prstGeom prst="rect">
            <a:avLst/>
          </a:prstGeom>
          <a:noFill/>
          <a:ln>
            <a:noFill/>
          </a:ln>
        </p:spPr>
        <p:txBody>
          <a:bodyPr spcFirstLastPara="1" wrap="square" lIns="91425" tIns="45700" rIns="91425" bIns="45700" anchor="t" anchorCtr="0">
            <a:spAutoFit/>
          </a:bodyPr>
          <a:lstStyle/>
          <a:p>
            <a:pPr lvl="0">
              <a:buSzPts val="2900"/>
            </a:pPr>
            <a:r>
              <a:rPr lang="en-US" sz="3400" dirty="0">
                <a:latin typeface="Garamond" panose="02020404030301010803" pitchFamily="18" charset="0"/>
              </a:rPr>
              <a:t>Stack Overflow handling, where the application prevents the insertion of additional security events after reaching its predefined maximum capacity.</a:t>
            </a:r>
            <a:endParaRPr lang="en-US" sz="3400" i="0" u="none" strike="noStrike" cap="none" dirty="0">
              <a:solidFill>
                <a:schemeClr val="dk1"/>
              </a:solidFill>
              <a:latin typeface="Garamond" panose="02020404030301010803" pitchFamily="18" charset="0"/>
              <a:ea typeface="Garamond"/>
              <a:cs typeface="Garamond"/>
              <a:sym typeface="Garamond"/>
            </a:endParaRPr>
          </a:p>
        </p:txBody>
      </p:sp>
      <p:pic>
        <p:nvPicPr>
          <p:cNvPr id="41" name="Picture 40">
            <a:extLst>
              <a:ext uri="{FF2B5EF4-FFF2-40B4-BE49-F238E27FC236}">
                <a16:creationId xmlns:a16="http://schemas.microsoft.com/office/drawing/2014/main" id="{ABFD2F60-BF9C-3E63-0D2E-1B3015D638EB}"/>
              </a:ext>
            </a:extLst>
          </p:cNvPr>
          <p:cNvPicPr>
            <a:picLocks noChangeAspect="1"/>
          </p:cNvPicPr>
          <p:nvPr/>
        </p:nvPicPr>
        <p:blipFill>
          <a:blip r:embed="rId17"/>
          <a:srcRect r="17794"/>
          <a:stretch>
            <a:fillRect/>
          </a:stretch>
        </p:blipFill>
        <p:spPr>
          <a:xfrm>
            <a:off x="33065905" y="17747163"/>
            <a:ext cx="9976119" cy="1219263"/>
          </a:xfrm>
          <a:prstGeom prst="rect">
            <a:avLst/>
          </a:prstGeom>
        </p:spPr>
      </p:pic>
      <p:sp>
        <p:nvSpPr>
          <p:cNvPr id="43" name="Google Shape;95;p1">
            <a:extLst>
              <a:ext uri="{FF2B5EF4-FFF2-40B4-BE49-F238E27FC236}">
                <a16:creationId xmlns:a16="http://schemas.microsoft.com/office/drawing/2014/main" id="{B0DA8C2D-6BAB-8E75-0A90-3827D44CEE35}"/>
              </a:ext>
            </a:extLst>
          </p:cNvPr>
          <p:cNvSpPr/>
          <p:nvPr/>
        </p:nvSpPr>
        <p:spPr>
          <a:xfrm>
            <a:off x="33048743" y="19135539"/>
            <a:ext cx="9982200" cy="579300"/>
          </a:xfrm>
          <a:prstGeom prst="rect">
            <a:avLst/>
          </a:prstGeom>
          <a:solidFill>
            <a:srgbClr val="A64D79"/>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9: Stack Underflow</a:t>
            </a:r>
            <a:r>
              <a:rPr lang="en-US" sz="3600" b="1" dirty="0">
                <a:solidFill>
                  <a:srgbClr val="F8F8F8"/>
                </a:solidFill>
                <a:latin typeface="Garamond"/>
                <a:ea typeface="Garamond"/>
                <a:cs typeface="Garamond"/>
                <a:sym typeface="Garamond"/>
              </a:rPr>
              <a:t>-Empty Stack Validation</a:t>
            </a:r>
            <a:endParaRPr sz="3600" i="0" u="none" strike="noStrike" cap="none" dirty="0">
              <a:solidFill>
                <a:srgbClr val="000000"/>
              </a:solidFill>
              <a:latin typeface="Garamond"/>
              <a:ea typeface="Garamond"/>
              <a:cs typeface="Garamond"/>
              <a:sym typeface="Garamond"/>
            </a:endParaRPr>
          </a:p>
        </p:txBody>
      </p:sp>
      <p:sp>
        <p:nvSpPr>
          <p:cNvPr id="45" name="Google Shape;80;p1">
            <a:extLst>
              <a:ext uri="{FF2B5EF4-FFF2-40B4-BE49-F238E27FC236}">
                <a16:creationId xmlns:a16="http://schemas.microsoft.com/office/drawing/2014/main" id="{ED4DC9DA-2095-3861-122E-DF442FC7F64A}"/>
              </a:ext>
            </a:extLst>
          </p:cNvPr>
          <p:cNvSpPr txBox="1"/>
          <p:nvPr/>
        </p:nvSpPr>
        <p:spPr>
          <a:xfrm>
            <a:off x="33065252" y="20536850"/>
            <a:ext cx="9982200" cy="1661953"/>
          </a:xfrm>
          <a:prstGeom prst="rect">
            <a:avLst/>
          </a:prstGeom>
          <a:noFill/>
          <a:ln>
            <a:noFill/>
          </a:ln>
        </p:spPr>
        <p:txBody>
          <a:bodyPr spcFirstLastPara="1" wrap="square" lIns="91425" tIns="45700" rIns="91425" bIns="45700" anchor="t" anchorCtr="0">
            <a:spAutoFit/>
          </a:bodyPr>
          <a:lstStyle/>
          <a:p>
            <a:pPr lvl="0">
              <a:buSzPts val="2900"/>
            </a:pPr>
            <a:r>
              <a:rPr lang="en-US" sz="3400" dirty="0">
                <a:latin typeface="Garamond" panose="02020404030301010803" pitchFamily="18" charset="0"/>
              </a:rPr>
              <a:t>Stack Underflow handling, where the application prevents the removal of security events when the Stack contains no elements.</a:t>
            </a:r>
            <a:endParaRPr sz="3400" i="0" u="none" strike="noStrike" cap="none" dirty="0">
              <a:solidFill>
                <a:schemeClr val="dk1"/>
              </a:solidFill>
              <a:latin typeface="Garamond" panose="02020404030301010803" pitchFamily="18" charset="0"/>
              <a:ea typeface="Garamond"/>
              <a:cs typeface="Garamond"/>
              <a:sym typeface="Garamond"/>
            </a:endParaRPr>
          </a:p>
        </p:txBody>
      </p:sp>
      <p:pic>
        <p:nvPicPr>
          <p:cNvPr id="47" name="Picture 46">
            <a:extLst>
              <a:ext uri="{FF2B5EF4-FFF2-40B4-BE49-F238E27FC236}">
                <a16:creationId xmlns:a16="http://schemas.microsoft.com/office/drawing/2014/main" id="{BD82FFFE-8F85-C159-0AE4-44CDD83E5EC2}"/>
              </a:ext>
            </a:extLst>
          </p:cNvPr>
          <p:cNvPicPr>
            <a:picLocks noChangeAspect="1"/>
          </p:cNvPicPr>
          <p:nvPr/>
        </p:nvPicPr>
        <p:blipFill>
          <a:blip r:embed="rId18"/>
          <a:srcRect r="18149"/>
          <a:stretch>
            <a:fillRect/>
          </a:stretch>
        </p:blipFill>
        <p:spPr>
          <a:xfrm>
            <a:off x="33065231" y="22587906"/>
            <a:ext cx="9969310" cy="1244664"/>
          </a:xfrm>
          <a:prstGeom prst="rect">
            <a:avLst/>
          </a:prstGeom>
        </p:spPr>
      </p:pic>
      <p:pic>
        <p:nvPicPr>
          <p:cNvPr id="49" name="Picture 48">
            <a:extLst>
              <a:ext uri="{FF2B5EF4-FFF2-40B4-BE49-F238E27FC236}">
                <a16:creationId xmlns:a16="http://schemas.microsoft.com/office/drawing/2014/main" id="{8BFF6802-E956-A5CF-CBB2-6594E786072F}"/>
              </a:ext>
            </a:extLst>
          </p:cNvPr>
          <p:cNvPicPr>
            <a:picLocks noChangeAspect="1"/>
          </p:cNvPicPr>
          <p:nvPr/>
        </p:nvPicPr>
        <p:blipFill>
          <a:blip r:embed="rId19"/>
          <a:stretch>
            <a:fillRect/>
          </a:stretch>
        </p:blipFill>
        <p:spPr>
          <a:xfrm>
            <a:off x="768096" y="-21942"/>
            <a:ext cx="4532243" cy="5263397"/>
          </a:xfrm>
          <a:prstGeom prst="rect">
            <a:avLst/>
          </a:prstGeom>
        </p:spPr>
      </p:pic>
      <p:pic>
        <p:nvPicPr>
          <p:cNvPr id="53" name="Picture 52">
            <a:extLst>
              <a:ext uri="{FF2B5EF4-FFF2-40B4-BE49-F238E27FC236}">
                <a16:creationId xmlns:a16="http://schemas.microsoft.com/office/drawing/2014/main" id="{B49AF0F6-9C7E-7328-F49A-28A3DA494FFB}"/>
              </a:ext>
            </a:extLst>
          </p:cNvPr>
          <p:cNvPicPr>
            <a:picLocks noChangeAspect="1"/>
          </p:cNvPicPr>
          <p:nvPr/>
        </p:nvPicPr>
        <p:blipFill>
          <a:blip r:embed="rId20"/>
          <a:stretch>
            <a:fillRect/>
          </a:stretch>
        </p:blipFill>
        <p:spPr>
          <a:xfrm>
            <a:off x="3423657" y="24610557"/>
            <a:ext cx="3753363" cy="4749771"/>
          </a:xfrm>
          <a:prstGeom prst="rect">
            <a:avLst/>
          </a:prstGeom>
        </p:spPr>
      </p:pic>
      <p:sp>
        <p:nvSpPr>
          <p:cNvPr id="55" name="Google Shape;80;p1">
            <a:extLst>
              <a:ext uri="{FF2B5EF4-FFF2-40B4-BE49-F238E27FC236}">
                <a16:creationId xmlns:a16="http://schemas.microsoft.com/office/drawing/2014/main" id="{2439FFC9-B5EF-05FF-583A-73BE448C91FF}"/>
              </a:ext>
            </a:extLst>
          </p:cNvPr>
          <p:cNvSpPr txBox="1"/>
          <p:nvPr/>
        </p:nvSpPr>
        <p:spPr>
          <a:xfrm>
            <a:off x="33212591" y="24312519"/>
            <a:ext cx="9982200" cy="2185173"/>
          </a:xfrm>
          <a:prstGeom prst="rect">
            <a:avLst/>
          </a:prstGeom>
          <a:noFill/>
          <a:ln>
            <a:noFill/>
          </a:ln>
        </p:spPr>
        <p:txBody>
          <a:bodyPr spcFirstLastPara="1" wrap="square" lIns="91425" tIns="45700" rIns="91425" bIns="45700" anchor="t" anchorCtr="0">
            <a:spAutoFit/>
          </a:bodyPr>
          <a:lstStyle/>
          <a:p>
            <a:pPr lvl="0">
              <a:buSzPts val="2900"/>
            </a:pPr>
            <a:r>
              <a:rPr lang="en-US" sz="3400" dirty="0">
                <a:latin typeface="Garamond" panose="02020404030301010803" pitchFamily="18" charset="0"/>
              </a:rPr>
              <a:t>the successful implementation of the Cybersecurity Event Analyzer, highlighting Stack operations, LIFO principles, event management, input validation, and error handling through practical C++ execution and testing.</a:t>
            </a:r>
            <a:endParaRPr sz="3400" i="0" u="none" strike="noStrike" cap="none" dirty="0">
              <a:solidFill>
                <a:schemeClr val="dk1"/>
              </a:solidFill>
              <a:latin typeface="Garamond" panose="02020404030301010803" pitchFamily="18" charset="0"/>
              <a:ea typeface="Garamond"/>
              <a:cs typeface="Garamond"/>
              <a:sym typeface="Garamond"/>
            </a:endParaRPr>
          </a:p>
        </p:txBody>
      </p:sp>
    </p:spTree>
  </p:cSld>
  <p:clrMapOvr>
    <a:masterClrMapping/>
  </p:clrMapOvr>
</p:sld>
</file>

<file path=ppt/theme/theme1.xml><?xml version="1.0" encoding="utf-8"?>
<a:theme xmlns:a="http://schemas.openxmlformats.org/drawingml/2006/main" name="1_Default">
  <a:themeElements>
    <a:clrScheme name="1_Default 2">
      <a:dk1>
        <a:srgbClr val="000000"/>
      </a:dk1>
      <a:lt1>
        <a:srgbClr val="AABAC9"/>
      </a:lt1>
      <a:dk2>
        <a:srgbClr val="A7A7A7"/>
      </a:dk2>
      <a:lt2>
        <a:srgbClr val="535353"/>
      </a:lt2>
      <a:accent1>
        <a:srgbClr val="D7D7D7"/>
      </a:accent1>
      <a:accent2>
        <a:srgbClr val="006BD6"/>
      </a:accent2>
      <a:accent3>
        <a:srgbClr val="D2D9E1"/>
      </a:accent3>
      <a:accent4>
        <a:srgbClr val="000000"/>
      </a:accent4>
      <a:accent5>
        <a:srgbClr val="E8E8E8"/>
      </a:accent5>
      <a:accent6>
        <a:srgbClr val="0060C2"/>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AABAC9"/>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efault">
  <a:themeElements>
    <a:clrScheme name="Default">
      <a:dk1>
        <a:srgbClr val="000000"/>
      </a:dk1>
      <a:lt1>
        <a:srgbClr val="FFFFFF"/>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1433</TotalTime>
  <Words>1003</Words>
  <Application>Microsoft Office PowerPoint</Application>
  <PresentationFormat>Custom</PresentationFormat>
  <Paragraphs>57</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Garamond</vt:lpstr>
      <vt:lpstr>Helvetica Neue</vt:lpstr>
      <vt:lpstr>Arial</vt:lpstr>
      <vt:lpstr>Arial Black</vt:lpstr>
      <vt:lpstr>1_Default</vt:lpstr>
      <vt:lpstr>Default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Govindaswamy, Victor</dc:creator>
  <cp:lastModifiedBy>rushikesh nayak</cp:lastModifiedBy>
  <cp:revision>18</cp:revision>
  <dcterms:modified xsi:type="dcterms:W3CDTF">2026-10-29T18:55:33Z</dcterms:modified>
</cp:coreProperties>
</file>